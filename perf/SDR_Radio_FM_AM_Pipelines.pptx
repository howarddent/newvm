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97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8FB4DE"/>
                </a:solidFill>
                <a:latin typeface="Calibri"/>
              </a:rPr>
              <a:t>SDR_RADIO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194560"/>
            <a:ext cx="106070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FM &amp; AM Receive-Chain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108960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C9D6E6"/>
                </a:solidFill>
                <a:latin typeface="Calibri"/>
              </a:rPr>
              <a:t>Processing blocks, cross-thread data flow, and thread structure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840480"/>
            <a:ext cx="2377440" cy="38100"/>
          </a:xfrm>
          <a:prstGeom prst="rect">
            <a:avLst/>
          </a:prstGeom>
          <a:solidFill>
            <a:srgbClr val="D97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4572000"/>
            <a:ext cx="3383280" cy="1508760"/>
          </a:xfrm>
          <a:prstGeom prst="roundRect">
            <a:avLst>
              <a:gd name="adj" fmla="val 6000"/>
            </a:avLst>
          </a:prstGeom>
          <a:solidFill>
            <a:srgbClr val="16223B"/>
          </a:solidFill>
          <a:ln w="12700">
            <a:solidFill>
              <a:srgbClr val="2B3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72744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D9732A"/>
                </a:solidFill>
                <a:latin typeface="Calibri"/>
              </a:rPr>
              <a:t>FM RECEIVE CHAIN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001768"/>
            <a:ext cx="30175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80" b="0" i="0">
                <a:solidFill>
                  <a:srgbClr val="FFFFFF"/>
                </a:solidFill>
                <a:latin typeface="Calibri"/>
              </a:rPr>
              <a:t>Two threads now: acquire (mixer+</a:t>
            </a:r>
          </a:p>
          <a:p>
            <a:pPr algn="l">
              <a:lnSpc>
                <a:spcPct val="115000"/>
              </a:lnSpc>
            </a:pPr>
            <a:r>
              <a:rPr sz="1180" b="0" i="0">
                <a:solidFill>
                  <a:srgbClr val="FFFFFF"/>
                </a:solidFill>
                <a:latin typeface="Calibri"/>
              </a:rPr>
              <a:t>resample) / demod (FM+stereo+audio),</a:t>
            </a:r>
          </a:p>
          <a:p>
            <a:pPr algn="l">
              <a:lnSpc>
                <a:spcPct val="115000"/>
              </a:lnSpc>
            </a:pPr>
            <a:r>
              <a:rPr sz="1180" b="0" i="0">
                <a:solidFill>
                  <a:srgbClr val="FFFFFF"/>
                </a:solidFill>
                <a:latin typeface="Calibri"/>
              </a:rPr>
              <a:t>handed off via a bounded queue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4572000"/>
            <a:ext cx="3383280" cy="1508760"/>
          </a:xfrm>
          <a:prstGeom prst="roundRect">
            <a:avLst>
              <a:gd name="adj" fmla="val 6000"/>
            </a:avLst>
          </a:prstGeom>
          <a:solidFill>
            <a:srgbClr val="16223B"/>
          </a:solidFill>
          <a:ln w="12700">
            <a:solidFill>
              <a:srgbClr val="2B3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472744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D9732A"/>
                </a:solidFill>
                <a:latin typeface="Calibri"/>
              </a:rPr>
              <a:t>AM RECEIVE CHAIN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5001768"/>
            <a:ext cx="30175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80" b="0" i="0">
                <a:solidFill>
                  <a:srgbClr val="FFFFFF"/>
                </a:solidFill>
                <a:latin typeface="Calibri"/>
              </a:rPr>
              <a:t>New: TAMBroadcastReceiver — envelope</a:t>
            </a:r>
          </a:p>
          <a:p>
            <a:pPr algn="l">
              <a:lnSpc>
                <a:spcPct val="115000"/>
              </a:lnSpc>
            </a:pPr>
            <a:r>
              <a:rPr sz="1180" b="0" i="0">
                <a:solidFill>
                  <a:srgbClr val="FFFFFF"/>
                </a:solidFill>
                <a:latin typeface="Calibri"/>
              </a:rPr>
              <a:t>or synchronous (PLL) detection,</a:t>
            </a:r>
          </a:p>
          <a:p>
            <a:pPr algn="l">
              <a:lnSpc>
                <a:spcPct val="115000"/>
              </a:lnSpc>
            </a:pPr>
            <a:r>
              <a:rPr sz="1180" b="0" i="0">
                <a:solidFill>
                  <a:srgbClr val="FFFFFF"/>
                </a:solidFill>
                <a:latin typeface="Calibri"/>
              </a:rPr>
              <a:t>live-adjustable bandwidth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4572000"/>
            <a:ext cx="3383280" cy="1508760"/>
          </a:xfrm>
          <a:prstGeom prst="roundRect">
            <a:avLst>
              <a:gd name="adj" fmla="val 6000"/>
            </a:avLst>
          </a:prstGeom>
          <a:solidFill>
            <a:srgbClr val="16223B"/>
          </a:solidFill>
          <a:ln w="12700">
            <a:solidFill>
              <a:srgbClr val="2B3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472744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D9732A"/>
                </a:solidFill>
                <a:latin typeface="Calibri"/>
              </a:rPr>
              <a:t>MODE SELECT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5001768"/>
            <a:ext cx="30175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80" b="0" i="0">
                <a:solidFill>
                  <a:srgbClr val="FFFFFF"/>
                </a:solidFill>
                <a:latin typeface="Calibri"/>
              </a:rPr>
              <a:t>ModeCombo (FM/AM) in uSDRMain —</a:t>
            </a:r>
          </a:p>
          <a:p>
            <a:pPr algn="l">
              <a:lnSpc>
                <a:spcPct val="115000"/>
              </a:lnSpc>
            </a:pPr>
            <a:r>
              <a:rPr sz="1180" b="0" i="0">
                <a:solidFill>
                  <a:srgbClr val="FFFFFF"/>
                </a:solidFill>
                <a:latin typeface="Calibri"/>
              </a:rPr>
              <a:t>mutually exclusive, same TSDRRFSource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6263640"/>
            <a:ext cx="4572000" cy="256032"/>
          </a:xfrm>
          <a:prstGeom prst="roundRect">
            <a:avLst>
              <a:gd name="adj" fmla="val 6000"/>
            </a:avLst>
          </a:prstGeom>
          <a:solidFill>
            <a:srgbClr val="2E9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UPDATED — AM implemented, FM split across 2 threads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1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2E9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8FB4DE"/>
                </a:solidFill>
                <a:latin typeface="Calibri"/>
              </a:rPr>
              <a:t>WHAT CHANGED SINCE THE LAST REVISION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Two real fixes landed in the codebase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329184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8FB4DE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Calibri"/>
              </a:rPr>
              <a:t>SDR_Radio  —  newVM Lazarus/FPC SDR receiver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234440"/>
            <a:ext cx="5440680" cy="2331720"/>
          </a:xfrm>
          <a:prstGeom prst="roundRect">
            <a:avLst>
              <a:gd name="adj" fmla="val 6000"/>
            </a:avLst>
          </a:prstGeom>
          <a:solidFill>
            <a:srgbClr val="FBE6D4"/>
          </a:solidFill>
          <a:ln w="15875">
            <a:solidFill>
              <a:srgbClr val="D973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8A4A14"/>
                </a:solidFill>
                <a:latin typeface="Calibri"/>
              </a:rPr>
              <a:t>uAMReceiver.pas (new)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783080"/>
            <a:ext cx="502920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80">
                <a:solidFill>
                  <a:srgbClr val="1B222E"/>
                </a:solidFill>
                <a:latin typeface="Calibri"/>
              </a:rPr>
              <a:t>•  TAMBroadcastReceiver — same TComponent/Source shape as FM's receiver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80">
                <a:solidFill>
                  <a:srgbClr val="1B222E"/>
                </a:solidFill>
                <a:latin typeface="Calibri"/>
              </a:rPr>
              <a:t>•  Envelope (diode-detector) or synchronous (Costas-loop PLL) demod, switchable live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80">
                <a:solidFill>
                  <a:srgbClr val="1B222E"/>
                </a:solidFill>
                <a:latin typeface="Calibri"/>
              </a:rPr>
              <a:t>•  Bandwidth is a live-adjustable property (1–10 kHz) — rebuilds the chain, short click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80">
                <a:solidFill>
                  <a:srgbClr val="1B222E"/>
                </a:solidFill>
                <a:latin typeface="Calibri"/>
              </a:rPr>
              <a:t>•  Single-threaded — AM's demod is a plain O(N) loop, no need for FM's split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34440"/>
            <a:ext cx="5486400" cy="2331720"/>
          </a:xfrm>
          <a:prstGeom prst="roundRect">
            <a:avLst>
              <a:gd name="adj" fmla="val 6000"/>
            </a:avLst>
          </a:prstGeom>
          <a:solidFill>
            <a:srgbClr val="DCE9F7"/>
          </a:solidFill>
          <a:ln w="15875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37160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4778"/>
                </a:solidFill>
                <a:latin typeface="Calibri"/>
              </a:rPr>
              <a:t>uFMReceiver.pas (revised)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783080"/>
            <a:ext cx="502920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180">
                <a:solidFill>
                  <a:srgbClr val="1B222E"/>
                </a:solidFill>
                <a:latin typeface="Calibri"/>
              </a:rPr>
              <a:t>•  Chain split into TFMAcquireThread + TFMDemodThread across a bounded queue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180">
                <a:solidFill>
                  <a:srgbClr val="1B222E"/>
                </a:solidFill>
                <a:latin typeface="Calibri"/>
              </a:rPr>
              <a:t>•  Fixes audible distortion: on real ARM64 hardware the single-thread chain averaged over its per-epoch real-time budget, so drift compensation fired almost every epoch (a persistent buzz)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180">
                <a:solidFill>
                  <a:srgbClr val="1B222E"/>
                </a:solidFill>
                <a:latin typeface="Calibri"/>
              </a:rPr>
              <a:t>•  Lets acquire (wideband) and demod (5 FIR filters + 2 resamplers) run concurrently on separate CPU cores instead of time-sharing one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794760"/>
            <a:ext cx="11201400" cy="2514600"/>
          </a:xfrm>
          <a:prstGeom prst="roundRect">
            <a:avLst>
              <a:gd name="adj" fmla="val 6000"/>
            </a:avLst>
          </a:prstGeom>
          <a:solidFill>
            <a:srgbClr val="E9EDF3"/>
          </a:solidFill>
          <a:ln w="12700">
            <a:solidFill>
              <a:srgbClr val="C7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95020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B222E"/>
                </a:solidFill>
                <a:latin typeface="Calibri"/>
              </a:rPr>
              <a:t>Both receivers, side by side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315968"/>
            <a:ext cx="1554480" cy="292608"/>
          </a:xfrm>
          <a:prstGeom prst="rect">
            <a:avLst/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" y="4343400"/>
            <a:ext cx="140817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B222E"/>
                </a:solidFill>
                <a:latin typeface="Calibri"/>
              </a:rPr>
              <a:t/>
            </a:r>
          </a:p>
        </p:txBody>
      </p:sp>
      <p:sp>
        <p:nvSpPr>
          <p:cNvPr id="18" name="Rectangle 17"/>
          <p:cNvSpPr/>
          <p:nvPr/>
        </p:nvSpPr>
        <p:spPr>
          <a:xfrm>
            <a:off x="2331720" y="4315968"/>
            <a:ext cx="4709160" cy="292608"/>
          </a:xfrm>
          <a:prstGeom prst="rect">
            <a:avLst/>
          </a:prstGeom>
          <a:solidFill>
            <a:srgbClr val="0E1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04872" y="4343400"/>
            <a:ext cx="456285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FM  (TFMBroadcastReceiver)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40880" y="4315968"/>
            <a:ext cx="4709160" cy="292608"/>
          </a:xfrm>
          <a:prstGeom prst="rect">
            <a:avLst/>
          </a:prstGeom>
          <a:solidFill>
            <a:srgbClr val="0E1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14032" y="4343400"/>
            <a:ext cx="456285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AM  (TAMBroadcastReceiver)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608576"/>
            <a:ext cx="1554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7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4636008"/>
            <a:ext cx="1408176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1" i="0">
                <a:solidFill>
                  <a:srgbClr val="1B222E"/>
                </a:solidFill>
                <a:latin typeface="Calibri"/>
              </a:rPr>
              <a:t>Threads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31720" y="4608576"/>
            <a:ext cx="4709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7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04872" y="4636008"/>
            <a:ext cx="4562856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1B222E"/>
                </a:solidFill>
                <a:latin typeface="Calibri"/>
              </a:rPr>
              <a:t>2 — TFMAcquireThread + TFMDemodThread,</a:t>
            </a:r>
          </a:p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1B222E"/>
                </a:solidFill>
                <a:latin typeface="Calibri"/>
              </a:rPr>
              <a:t>handed off via TBasebandQueue (drop-oldest)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40880" y="4608576"/>
            <a:ext cx="4709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7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14032" y="4636008"/>
            <a:ext cx="4562856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1B222E"/>
                </a:solidFill>
                <a:latin typeface="Calibri"/>
              </a:rPr>
              <a:t>1 — TAMDSPThread (plain tight loop)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4992624"/>
            <a:ext cx="1554480" cy="384048"/>
          </a:xfrm>
          <a:prstGeom prst="rect">
            <a:avLst/>
          </a:prstGeom>
          <a:solidFill>
            <a:srgbClr val="F3F5F8"/>
          </a:solidFill>
          <a:ln w="6350">
            <a:solidFill>
              <a:srgbClr val="C7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5020056"/>
            <a:ext cx="1408176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1" i="0">
                <a:solidFill>
                  <a:srgbClr val="1B222E"/>
                </a:solidFill>
                <a:latin typeface="Calibri"/>
              </a:rPr>
              <a:t>Demod stage cost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331720" y="4992624"/>
            <a:ext cx="4709160" cy="384048"/>
          </a:xfrm>
          <a:prstGeom prst="rect">
            <a:avLst/>
          </a:prstGeom>
          <a:solidFill>
            <a:srgbClr val="F3F5F8"/>
          </a:solidFill>
          <a:ln w="6350">
            <a:solidFill>
              <a:srgbClr val="C7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404872" y="5020056"/>
            <a:ext cx="4562856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1B222E"/>
                </a:solidFill>
                <a:latin typeface="Calibri"/>
              </a:rPr>
              <a:t>Heavy: FM discriminator + stereo pilot</a:t>
            </a:r>
          </a:p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1B222E"/>
                </a:solidFill>
                <a:latin typeface="Calibri"/>
              </a:rPr>
              <a:t>decode = 5 FIR filters + 2 resamplers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40880" y="4992624"/>
            <a:ext cx="4709160" cy="384048"/>
          </a:xfrm>
          <a:prstGeom prst="rect">
            <a:avLst/>
          </a:prstGeom>
          <a:solidFill>
            <a:srgbClr val="F3F5F8"/>
          </a:solidFill>
          <a:ln w="6350">
            <a:solidFill>
              <a:srgbClr val="C7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14032" y="5020056"/>
            <a:ext cx="4562856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1B222E"/>
                </a:solidFill>
                <a:latin typeface="Calibri"/>
              </a:rPr>
              <a:t>Light: envelope sqrt() or PLL rotate,</a:t>
            </a:r>
          </a:p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1B222E"/>
                </a:solidFill>
                <a:latin typeface="Calibri"/>
              </a:rPr>
              <a:t>O(N), no filtering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5376672"/>
            <a:ext cx="1554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7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0392" y="5404104"/>
            <a:ext cx="1408176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1" i="0">
                <a:solidFill>
                  <a:srgbClr val="1B222E"/>
                </a:solidFill>
                <a:latin typeface="Calibri"/>
              </a:rPr>
              <a:t>Channel bandwidth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331720" y="5376672"/>
            <a:ext cx="4709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7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404872" y="5404104"/>
            <a:ext cx="4562856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1B222E"/>
                </a:solidFill>
                <a:latin typeface="Calibri"/>
              </a:rPr>
              <a:t>Fixed 200 kHz (broadcast-FM spec)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040880" y="5376672"/>
            <a:ext cx="4709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7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14032" y="5404104"/>
            <a:ext cx="4562856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1B222E"/>
                </a:solidFill>
                <a:latin typeface="Calibri"/>
              </a:rPr>
              <a:t>Variable 1–10 kHz, live-adjustable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5760720"/>
            <a:ext cx="1554480" cy="384048"/>
          </a:xfrm>
          <a:prstGeom prst="rect">
            <a:avLst/>
          </a:prstGeom>
          <a:solidFill>
            <a:srgbClr val="F3F5F8"/>
          </a:solidFill>
          <a:ln w="6350">
            <a:solidFill>
              <a:srgbClr val="C7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0392" y="5788152"/>
            <a:ext cx="1408176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1" i="0">
                <a:solidFill>
                  <a:srgbClr val="1B222E"/>
                </a:solidFill>
                <a:latin typeface="Calibri"/>
              </a:rPr>
              <a:t>Output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331720" y="5760720"/>
            <a:ext cx="4709160" cy="384048"/>
          </a:xfrm>
          <a:prstGeom prst="rect">
            <a:avLst/>
          </a:prstGeom>
          <a:solidFill>
            <a:srgbClr val="F3F5F8"/>
          </a:solidFill>
          <a:ln w="6350">
            <a:solidFill>
              <a:srgbClr val="C7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404872" y="5788152"/>
            <a:ext cx="4562856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1B222E"/>
                </a:solidFill>
                <a:latin typeface="Calibri"/>
              </a:rPr>
              <a:t>Stereo (L/R from pilot-locked decode)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040880" y="5760720"/>
            <a:ext cx="4709160" cy="384048"/>
          </a:xfrm>
          <a:prstGeom prst="rect">
            <a:avLst/>
          </a:prstGeom>
          <a:solidFill>
            <a:srgbClr val="F3F5F8"/>
          </a:solidFill>
          <a:ln w="6350">
            <a:solidFill>
              <a:srgbClr val="C7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14032" y="5788152"/>
            <a:ext cx="4562856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1B222E"/>
                </a:solidFill>
                <a:latin typeface="Calibri"/>
              </a:rPr>
              <a:t>Mono (duplicated to L=R)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1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8FB4DE"/>
                </a:solidFill>
                <a:latin typeface="Calibri"/>
              </a:rPr>
              <a:t>SYSTEM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Component architecture — three sibling consumers, one Source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329184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8FB4DE"/>
                </a:solidFill>
                <a:latin typeface="Calibr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Calibri"/>
              </a:rPr>
              <a:t>SDR_Radio  —  newVM Lazarus/FPC SDR receiver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417320"/>
            <a:ext cx="2148840" cy="822960"/>
          </a:xfrm>
          <a:prstGeom prst="roundRect">
            <a:avLst>
              <a:gd name="adj" fmla="val 6000"/>
            </a:avLst>
          </a:prstGeom>
          <a:solidFill>
            <a:srgbClr val="E9EDF3"/>
          </a:solidFill>
          <a:ln w="15875">
            <a:solidFill>
              <a:srgbClr val="5B66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50" b="1">
                <a:solidFill>
                  <a:srgbClr val="1B222E"/>
                </a:solidFill>
                <a:latin typeface="Calibri"/>
              </a:rPr>
              <a:t>SDR hardware</a:t>
            </a:r>
          </a:p>
          <a:p>
            <a:pPr algn="ctr">
              <a:spcBef>
                <a:spcPts val="200"/>
              </a:spcBef>
            </a:pPr>
            <a:r>
              <a:rPr sz="950">
                <a:solidFill>
                  <a:srgbClr val="1B222E"/>
                </a:solidFill>
                <a:latin typeface="Calibri"/>
              </a:rPr>
              <a:t>HackRF / RTL-SDR / SDRplay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1280160"/>
            <a:ext cx="2606040" cy="1097280"/>
          </a:xfrm>
          <a:prstGeom prst="roundRect">
            <a:avLst>
              <a:gd name="adj" fmla="val 6000"/>
            </a:avLst>
          </a:prstGeom>
          <a:solidFill>
            <a:srgbClr val="DCE9F7"/>
          </a:solidFill>
          <a:ln w="15875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50" b="1">
                <a:solidFill>
                  <a:srgbClr val="1B4778"/>
                </a:solidFill>
                <a:latin typeface="Calibri"/>
              </a:rPr>
              <a:t>TSDRRFSource</a:t>
            </a:r>
          </a:p>
          <a:p>
            <a:pPr algn="ctr">
              <a:spcBef>
                <a:spcPts val="200"/>
              </a:spcBef>
            </a:pPr>
            <a:r>
              <a:rPr sz="950">
                <a:solidFill>
                  <a:srgbClr val="1B4778"/>
                </a:solidFill>
                <a:latin typeface="Calibri"/>
              </a:rPr>
              <a:t>device control, shared IQ
ring buffer (FStreamRing)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14600" y="1828800"/>
            <a:ext cx="411480" cy="0"/>
          </a:xfrm>
          <a:prstGeom prst="line">
            <a:avLst/>
          </a:prstGeom>
          <a:ln w="22225">
            <a:solidFill>
              <a:srgbClr val="5B667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675120" y="640080"/>
            <a:ext cx="3429000" cy="822960"/>
          </a:xfrm>
          <a:prstGeom prst="roundRect">
            <a:avLst>
              <a:gd name="adj" fmla="val 6000"/>
            </a:avLst>
          </a:prstGeom>
          <a:solidFill>
            <a:srgbClr val="E9E2F8"/>
          </a:solidFill>
          <a:ln w="15875">
            <a:solidFill>
              <a:srgbClr val="7A5C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00" b="1">
                <a:solidFill>
                  <a:srgbClr val="4B358C"/>
                </a:solidFill>
                <a:latin typeface="Calibri"/>
              </a:rPr>
              <a:t>TSDRSpectrumAnalyser</a:t>
            </a:r>
          </a:p>
          <a:p>
            <a:pPr algn="ctr">
              <a:spcBef>
                <a:spcPts val="200"/>
              </a:spcBef>
            </a:pPr>
            <a:r>
              <a:rPr sz="950">
                <a:solidFill>
                  <a:srgbClr val="4B358C"/>
                </a:solidFill>
                <a:latin typeface="Calibri"/>
              </a:rPr>
              <a:t>GPU/OpenCL FFT → plots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1600200"/>
            <a:ext cx="3429000" cy="868680"/>
          </a:xfrm>
          <a:prstGeom prst="roundRect">
            <a:avLst>
              <a:gd name="adj" fmla="val 6000"/>
            </a:avLst>
          </a:prstGeom>
          <a:solidFill>
            <a:srgbClr val="FBE6D4"/>
          </a:solidFill>
          <a:ln w="15875">
            <a:solidFill>
              <a:srgbClr val="D973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00" b="1">
                <a:solidFill>
                  <a:srgbClr val="8A4A14"/>
                </a:solidFill>
                <a:latin typeface="Calibri"/>
              </a:rPr>
              <a:t>TFMBroadcastReceiver (FReceiver)</a:t>
            </a:r>
          </a:p>
          <a:p>
            <a:pPr algn="ctr">
              <a:spcBef>
                <a:spcPts val="200"/>
              </a:spcBef>
            </a:pPr>
            <a:r>
              <a:rPr sz="950">
                <a:solidFill>
                  <a:srgbClr val="8A4A14"/>
                </a:solidFill>
                <a:latin typeface="Calibri"/>
              </a:rPr>
              <a:t>2-thread chain → own TWaveOutPlayer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2606040"/>
            <a:ext cx="3429000" cy="868680"/>
          </a:xfrm>
          <a:prstGeom prst="roundRect">
            <a:avLst>
              <a:gd name="adj" fmla="val 6000"/>
            </a:avLst>
          </a:prstGeom>
          <a:solidFill>
            <a:srgbClr val="DAF1F1"/>
          </a:solidFill>
          <a:ln w="15875">
            <a:solidFill>
              <a:srgbClr val="1F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00" b="1">
                <a:solidFill>
                  <a:srgbClr val="115454"/>
                </a:solidFill>
                <a:latin typeface="Calibri"/>
              </a:rPr>
              <a:t>TAMBroadcastReceiver (FAMReceiver)</a:t>
            </a:r>
          </a:p>
          <a:p>
            <a:pPr algn="ctr">
              <a:spcBef>
                <a:spcPts val="200"/>
              </a:spcBef>
            </a:pPr>
            <a:r>
              <a:rPr sz="950">
                <a:solidFill>
                  <a:srgbClr val="115454"/>
                </a:solidFill>
                <a:latin typeface="Calibri"/>
              </a:rPr>
              <a:t>1-thread chain → own TWaveOutPlayer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532120" y="1828800"/>
            <a:ext cx="548640" cy="0"/>
          </a:xfrm>
          <a:prstGeom prst="line">
            <a:avLst/>
          </a:prstGeom>
          <a:ln w="22225">
            <a:solidFill>
              <a:srgbClr val="2B6CB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6080760" y="1051560"/>
            <a:ext cx="0" cy="777240"/>
          </a:xfrm>
          <a:prstGeom prst="line">
            <a:avLst/>
          </a:prstGeom>
          <a:ln w="22225">
            <a:solidFill>
              <a:srgbClr val="2B6CB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080760" y="1051560"/>
            <a:ext cx="594360" cy="0"/>
          </a:xfrm>
          <a:prstGeom prst="line">
            <a:avLst/>
          </a:prstGeom>
          <a:ln w="22225">
            <a:solidFill>
              <a:srgbClr val="2B6CB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532120" y="1828800"/>
            <a:ext cx="548640" cy="0"/>
          </a:xfrm>
          <a:prstGeom prst="line">
            <a:avLst/>
          </a:prstGeom>
          <a:ln w="22225">
            <a:solidFill>
              <a:srgbClr val="2B6CB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080760" y="1828800"/>
            <a:ext cx="0" cy="201168"/>
          </a:xfrm>
          <a:prstGeom prst="line">
            <a:avLst/>
          </a:prstGeom>
          <a:ln w="22225">
            <a:solidFill>
              <a:srgbClr val="2B6CB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080760" y="2029968"/>
            <a:ext cx="594360" cy="0"/>
          </a:xfrm>
          <a:prstGeom prst="line">
            <a:avLst/>
          </a:prstGeom>
          <a:ln w="22225">
            <a:solidFill>
              <a:srgbClr val="2B6CB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532120" y="1828800"/>
            <a:ext cx="548640" cy="0"/>
          </a:xfrm>
          <a:prstGeom prst="line">
            <a:avLst/>
          </a:prstGeom>
          <a:ln w="22225">
            <a:solidFill>
              <a:srgbClr val="2B6CB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080760" y="1828800"/>
            <a:ext cx="0" cy="1207008"/>
          </a:xfrm>
          <a:prstGeom prst="line">
            <a:avLst/>
          </a:prstGeom>
          <a:ln w="22225">
            <a:solidFill>
              <a:srgbClr val="2B6CB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080760" y="3035808"/>
            <a:ext cx="594360" cy="0"/>
          </a:xfrm>
          <a:prstGeom prst="line">
            <a:avLst/>
          </a:prstGeom>
          <a:ln w="22225">
            <a:solidFill>
              <a:srgbClr val="2B6CB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577840" y="1463040"/>
            <a:ext cx="548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1B4778"/>
                </a:solidFill>
                <a:latin typeface="Calibri"/>
              </a:rPr>
              <a:t>IQ</a:t>
            </a:r>
          </a:p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1B4778"/>
                </a:solidFill>
                <a:latin typeface="Calibri"/>
              </a:rPr>
              <a:t>(cursors)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52560" y="3611880"/>
            <a:ext cx="1737360" cy="365760"/>
          </a:xfrm>
          <a:prstGeom prst="roundRect">
            <a:avLst>
              <a:gd name="adj" fmla="val 6000"/>
            </a:avLst>
          </a:prstGeom>
          <a:solidFill>
            <a:srgbClr val="16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60" y="3675887"/>
            <a:ext cx="1737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Calibri"/>
              </a:rPr>
              <a:t>ModeCombo: FM | AM</a:t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10515600" y="2034540"/>
            <a:ext cx="0" cy="1577340"/>
          </a:xfrm>
          <a:prstGeom prst="line">
            <a:avLst/>
          </a:prstGeom>
          <a:ln w="22225">
            <a:solidFill>
              <a:srgbClr val="C79A1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10104120" y="2034540"/>
            <a:ext cx="411480" cy="0"/>
          </a:xfrm>
          <a:prstGeom prst="line">
            <a:avLst/>
          </a:prstGeom>
          <a:ln w="22225">
            <a:solidFill>
              <a:srgbClr val="C79A1E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0698480" y="3040380"/>
            <a:ext cx="0" cy="571500"/>
          </a:xfrm>
          <a:prstGeom prst="line">
            <a:avLst/>
          </a:prstGeom>
          <a:ln w="22225">
            <a:solidFill>
              <a:srgbClr val="C79A1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10104120" y="3040380"/>
            <a:ext cx="594360" cy="0"/>
          </a:xfrm>
          <a:prstGeom prst="line">
            <a:avLst/>
          </a:prstGeom>
          <a:ln w="22225">
            <a:solidFill>
              <a:srgbClr val="C79A1E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365760" y="2880360"/>
            <a:ext cx="2148840" cy="777240"/>
          </a:xfrm>
          <a:prstGeom prst="roundRect">
            <a:avLst>
              <a:gd name="adj" fmla="val 6000"/>
            </a:avLst>
          </a:prstGeom>
          <a:solidFill>
            <a:srgbClr val="E9EDF3"/>
          </a:solidFill>
          <a:ln w="15875">
            <a:solidFill>
              <a:srgbClr val="5B66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150" b="1">
                <a:solidFill>
                  <a:srgbClr val="1B222E"/>
                </a:solidFill>
                <a:latin typeface="Calibri"/>
              </a:rPr>
              <a:t>TSDRDevice subclass</a:t>
            </a:r>
          </a:p>
          <a:p>
            <a:pPr algn="ctr">
              <a:spcBef>
                <a:spcPts val="200"/>
              </a:spcBef>
            </a:pPr>
            <a:r>
              <a:rPr sz="950">
                <a:solidFill>
                  <a:srgbClr val="1B222E"/>
                </a:solidFill>
                <a:latin typeface="Calibri"/>
              </a:rPr>
              <a:t>capability-driven gain/freq
+ IQ correction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417320" y="2240280"/>
            <a:ext cx="0" cy="640080"/>
          </a:xfrm>
          <a:prstGeom prst="line">
            <a:avLst/>
          </a:prstGeom>
          <a:ln w="22225">
            <a:solidFill>
              <a:srgbClr val="5B6677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2926080" y="2880360"/>
            <a:ext cx="2606040" cy="777240"/>
          </a:xfrm>
          <a:prstGeom prst="roundRect">
            <a:avLst>
              <a:gd name="adj" fmla="val 6000"/>
            </a:avLst>
          </a:prstGeom>
          <a:solidFill>
            <a:srgbClr val="16223B"/>
          </a:solidFill>
          <a:ln w="15875">
            <a:solidFill>
              <a:srgbClr val="0E17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TSDRMain / TForm1</a:t>
            </a:r>
          </a:p>
          <a:p>
            <a:pPr algn="ctr">
              <a:spcBef>
                <a:spcPts val="200"/>
              </a:spcBef>
            </a:pPr>
            <a:r>
              <a:rPr sz="950">
                <a:solidFill>
                  <a:srgbClr val="FFFFFF"/>
                </a:solidFill>
                <a:latin typeface="Calibri"/>
              </a:rPr>
              <a:t>owns FRFSource, FAnalyser,
FReceiver, FAMReceiver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206240" y="2377440"/>
            <a:ext cx="0" cy="502920"/>
          </a:xfrm>
          <a:prstGeom prst="line">
            <a:avLst/>
          </a:prstGeom>
          <a:ln w="22225">
            <a:solidFill>
              <a:srgbClr val="0E172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365760" y="3977639"/>
            <a:ext cx="11338560" cy="2286000"/>
          </a:xfrm>
          <a:prstGeom prst="roundRect">
            <a:avLst>
              <a:gd name="adj" fmla="val 6000"/>
            </a:avLst>
          </a:prstGeom>
          <a:solidFill>
            <a:srgbClr val="E9EDF3"/>
          </a:solidFill>
          <a:ln w="12700">
            <a:solidFill>
              <a:srgbClr val="C7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4133087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4778"/>
                </a:solidFill>
                <a:latin typeface="Calibri"/>
              </a:rPr>
              <a:t>Key relationship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4498848"/>
            <a:ext cx="108813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B222E"/>
                </a:solidFill>
                <a:latin typeface="Calibri"/>
              </a:rPr>
              <a:t>•  FReceiver and FAMReceiver are BOTH always created (FormCreate) and both point at the same FRFSource — but only one is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B222E"/>
                </a:solidFill>
                <a:latin typeface="Calibri"/>
              </a:rPr>
              <a:t>•  ever Active. ModeComboChange sets both Active := False, then starts whichever the dropdown selects (StartSelectedReceiver).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B222E"/>
                </a:solidFill>
                <a:latin typeface="Calibri"/>
              </a:rPr>
              <a:t>•  Each receiver owns its own TWaveOutPlayer instance — switching mode doesn't reuse a shared audio device handle, it opens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B222E"/>
                </a:solidFill>
                <a:latin typeface="Calibri"/>
              </a:rPr>
              <a:t>•  a fresh one for whichever chain is now running.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B222E"/>
                </a:solidFill>
                <a:latin typeface="Calibri"/>
              </a:rPr>
              <a:t>•  AM-only controls (BandwidthTrackBar, SynchronousCheckBox) are shown/hidden by ApplyListenModeVisibility based on ModeCombo.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1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D97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8FB4DE"/>
                </a:solidFill>
                <a:latin typeface="Calibri"/>
              </a:rPr>
              <a:t>FM PIPELINE — SIGNAL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Two-thread split: acquire (Stage A) → queue → demod (Stage B)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329184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8FB4DE"/>
                </a:solidFill>
                <a:latin typeface="Calibr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Calibri"/>
              </a:rPr>
              <a:t>SDR_Radio  —  newVM Lazarus/FPC SDR receiver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1451" y="1234440"/>
            <a:ext cx="1298448" cy="1188720"/>
          </a:xfrm>
          <a:prstGeom prst="roundRect">
            <a:avLst>
              <a:gd name="adj" fmla="val 6000"/>
            </a:avLst>
          </a:prstGeom>
          <a:solidFill>
            <a:srgbClr val="DCE9F7"/>
          </a:solidFill>
          <a:ln w="15875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000" b="1">
                <a:solidFill>
                  <a:srgbClr val="2B6CB0"/>
                </a:solidFill>
                <a:latin typeface="Calibri"/>
              </a:rPr>
              <a:t>1</a:t>
            </a:r>
          </a:p>
          <a:p>
            <a:pPr algn="ctr">
              <a:spcBef>
                <a:spcPts val="200"/>
              </a:spcBef>
            </a:pPr>
            <a:r>
              <a:rPr sz="1000" b="1">
                <a:solidFill>
                  <a:srgbClr val="1B222E"/>
                </a:solidFill>
                <a:latin typeface="Calibri"/>
              </a:rPr>
              <a:t>TryReadEpoch</a:t>
            </a:r>
          </a:p>
          <a:p>
            <a:pPr algn="ctr">
              <a:spcBef>
                <a:spcPts val="200"/>
              </a:spcBef>
            </a:pPr>
            <a:r>
              <a:rPr sz="819">
                <a:solidFill>
                  <a:srgbClr val="5B6677"/>
                </a:solidFill>
                <a:latin typeface="Calibri"/>
              </a:rPr>
              <a:t>TSDRRFSource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451" y="2478024"/>
            <a:ext cx="12984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40" b="1" i="0">
                <a:solidFill>
                  <a:srgbClr val="2B6CB0"/>
                </a:solidFill>
                <a:latin typeface="Calibri"/>
              </a:rPr>
              <a:t>IQ @ Fs_in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939899.5" y="1828800.0"/>
            <a:ext cx="109728.0" cy="0.0"/>
          </a:xfrm>
          <a:prstGeom prst="line">
            <a:avLst/>
          </a:prstGeom>
          <a:ln w="19050">
            <a:solidFill>
              <a:srgbClr val="5B667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049627" y="1234440"/>
            <a:ext cx="1298448" cy="1188720"/>
          </a:xfrm>
          <a:prstGeom prst="roundRect">
            <a:avLst>
              <a:gd name="adj" fmla="val 6000"/>
            </a:avLst>
          </a:prstGeom>
          <a:solidFill>
            <a:srgbClr val="FBE6D4"/>
          </a:solidFill>
          <a:ln w="15875">
            <a:solidFill>
              <a:srgbClr val="D973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000" b="1">
                <a:solidFill>
                  <a:srgbClr val="D9732A"/>
                </a:solidFill>
                <a:latin typeface="Calibri"/>
              </a:rPr>
              <a:t>2</a:t>
            </a:r>
          </a:p>
          <a:p>
            <a:pPr algn="ctr">
              <a:spcBef>
                <a:spcPts val="200"/>
              </a:spcBef>
            </a:pPr>
            <a:r>
              <a:rPr sz="1000" b="1">
                <a:solidFill>
                  <a:srgbClr val="1B222E"/>
                </a:solidFill>
                <a:latin typeface="Calibri"/>
              </a:rPr>
              <a:t>TComplexMixer</a:t>
            </a:r>
          </a:p>
          <a:p>
            <a:pPr algn="ctr">
              <a:spcBef>
                <a:spcPts val="200"/>
              </a:spcBef>
            </a:pPr>
            <a:r>
              <a:rPr sz="819">
                <a:solidFill>
                  <a:srgbClr val="5B6677"/>
                </a:solidFill>
                <a:latin typeface="Calibri"/>
              </a:rPr>
              <a:t>shift to baseband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49627" y="2478024"/>
            <a:ext cx="12984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40" b="1" i="0">
                <a:solidFill>
                  <a:srgbClr val="D9732A"/>
                </a:solidFill>
                <a:latin typeface="Calibri"/>
              </a:rPr>
              <a:t>LO=-(Tuned-Center)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348075.5" y="1828800.0"/>
            <a:ext cx="109728.0" cy="0.0"/>
          </a:xfrm>
          <a:prstGeom prst="line">
            <a:avLst/>
          </a:prstGeom>
          <a:ln w="19050">
            <a:solidFill>
              <a:srgbClr val="5B667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457803" y="1234440"/>
            <a:ext cx="1298448" cy="1188720"/>
          </a:xfrm>
          <a:prstGeom prst="roundRect">
            <a:avLst>
              <a:gd name="adj" fmla="val 6000"/>
            </a:avLst>
          </a:prstGeom>
          <a:solidFill>
            <a:srgbClr val="FBE6D4"/>
          </a:solidFill>
          <a:ln w="15875">
            <a:solidFill>
              <a:srgbClr val="D973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000" b="1">
                <a:solidFill>
                  <a:srgbClr val="D9732A"/>
                </a:solidFill>
                <a:latin typeface="Calibri"/>
              </a:rPr>
              <a:t>3</a:t>
            </a:r>
          </a:p>
          <a:p>
            <a:pPr algn="ctr">
              <a:spcBef>
                <a:spcPts val="200"/>
              </a:spcBef>
            </a:pPr>
            <a:r>
              <a:rPr sz="1000" b="1">
                <a:solidFill>
                  <a:srgbClr val="1B222E"/>
                </a:solidFill>
                <a:latin typeface="Calibri"/>
              </a:rPr>
              <a:t>TRationalResamplerC</a:t>
            </a:r>
          </a:p>
          <a:p>
            <a:pPr algn="ctr">
              <a:spcBef>
                <a:spcPts val="200"/>
              </a:spcBef>
            </a:pPr>
            <a:r>
              <a:rPr sz="819">
                <a:solidFill>
                  <a:srgbClr val="5B6677"/>
                </a:solidFill>
                <a:latin typeface="Calibri"/>
              </a:rPr>
              <a:t>decimate + AA filter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7803" y="2478024"/>
            <a:ext cx="12984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40" b="1" i="0">
                <a:solidFill>
                  <a:srgbClr val="D9732A"/>
                </a:solidFill>
                <a:latin typeface="Calibri"/>
              </a:rPr>
              <a:t>Fs_in → 200 kHz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1451" y="941832"/>
            <a:ext cx="4114800" cy="256032"/>
          </a:xfrm>
          <a:prstGeom prst="roundRect">
            <a:avLst>
              <a:gd name="adj" fmla="val 6000"/>
            </a:avLst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STAGE A — TFMAcquireThread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774539.5" y="1828800.0"/>
            <a:ext cx="109728.0" cy="0.0"/>
          </a:xfrm>
          <a:prstGeom prst="line">
            <a:avLst/>
          </a:prstGeom>
          <a:ln w="19050">
            <a:solidFill>
              <a:srgbClr val="5B667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865979" y="1371600"/>
            <a:ext cx="1051560" cy="914400"/>
          </a:xfrm>
          <a:prstGeom prst="roundRect">
            <a:avLst>
              <a:gd name="adj" fmla="val 6000"/>
            </a:avLst>
          </a:prstGeom>
          <a:solidFill>
            <a:srgbClr val="16223B"/>
          </a:solidFill>
          <a:ln w="19050">
            <a:solidFill>
              <a:srgbClr val="0E17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11699" y="1453896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D9732A"/>
                </a:solidFill>
                <a:latin typeface="Calibri"/>
              </a:rPr>
              <a:t>FQueue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11699" y="1728216"/>
            <a:ext cx="960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760" b="0" i="0">
                <a:solidFill>
                  <a:srgbClr val="FFFFFF"/>
                </a:solidFill>
                <a:latin typeface="Calibri"/>
              </a:rPr>
              <a:t>TBasebandQueue</a:t>
            </a:r>
          </a:p>
          <a:p>
            <a:pPr algn="ctr">
              <a:lnSpc>
                <a:spcPct val="110000"/>
              </a:lnSpc>
            </a:pPr>
            <a:r>
              <a:rPr sz="760" b="0" i="0">
                <a:solidFill>
                  <a:srgbClr val="FFFFFF"/>
                </a:solidFill>
                <a:latin typeface="Calibri"/>
              </a:rPr>
              <a:t>cap=6, drop-oldest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917539.5" y="1828800.0"/>
            <a:ext cx="109728.0" cy="0.0"/>
          </a:xfrm>
          <a:prstGeom prst="line">
            <a:avLst/>
          </a:prstGeom>
          <a:ln w="19050">
            <a:solidFill>
              <a:srgbClr val="D9732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027267" y="1234440"/>
            <a:ext cx="1298448" cy="1188720"/>
          </a:xfrm>
          <a:prstGeom prst="roundRect">
            <a:avLst>
              <a:gd name="adj" fmla="val 6000"/>
            </a:avLst>
          </a:prstGeom>
          <a:solidFill>
            <a:srgbClr val="FBE6D4"/>
          </a:solidFill>
          <a:ln w="15875">
            <a:solidFill>
              <a:srgbClr val="D973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000" b="1">
                <a:solidFill>
                  <a:srgbClr val="D9732A"/>
                </a:solidFill>
                <a:latin typeface="Calibri"/>
              </a:rPr>
              <a:t>4</a:t>
            </a:r>
          </a:p>
          <a:p>
            <a:pPr algn="ctr">
              <a:spcBef>
                <a:spcPts val="200"/>
              </a:spcBef>
            </a:pPr>
            <a:r>
              <a:rPr sz="1000" b="1">
                <a:solidFill>
                  <a:srgbClr val="1B222E"/>
                </a:solidFill>
                <a:latin typeface="Calibri"/>
              </a:rPr>
              <a:t>TFMDemodulator</a:t>
            </a:r>
          </a:p>
          <a:p>
            <a:pPr algn="ctr">
              <a:spcBef>
                <a:spcPts val="200"/>
              </a:spcBef>
            </a:pPr>
            <a:r>
              <a:rPr sz="819">
                <a:solidFill>
                  <a:srgbClr val="5B6677"/>
                </a:solidFill>
                <a:latin typeface="Calibri"/>
              </a:rPr>
              <a:t>quadrature discrim.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27267" y="2478024"/>
            <a:ext cx="12984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40" b="1" i="0">
                <a:solidFill>
                  <a:srgbClr val="D9732A"/>
                </a:solidFill>
                <a:latin typeface="Calibri"/>
              </a:rPr>
              <a:t>±75 kHz dev.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325715.5" y="1828800.0"/>
            <a:ext cx="109728.0" cy="0.0"/>
          </a:xfrm>
          <a:prstGeom prst="line">
            <a:avLst/>
          </a:prstGeom>
          <a:ln w="19050">
            <a:solidFill>
              <a:srgbClr val="5B667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435443" y="1234440"/>
            <a:ext cx="1298448" cy="1188720"/>
          </a:xfrm>
          <a:prstGeom prst="roundRect">
            <a:avLst>
              <a:gd name="adj" fmla="val 6000"/>
            </a:avLst>
          </a:prstGeom>
          <a:solidFill>
            <a:srgbClr val="FBE6D4"/>
          </a:solidFill>
          <a:ln w="15875">
            <a:solidFill>
              <a:srgbClr val="D973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000" b="1">
                <a:solidFill>
                  <a:srgbClr val="D9732A"/>
                </a:solidFill>
                <a:latin typeface="Calibri"/>
              </a:rPr>
              <a:t>5</a:t>
            </a:r>
          </a:p>
          <a:p>
            <a:pPr algn="ctr">
              <a:spcBef>
                <a:spcPts val="200"/>
              </a:spcBef>
            </a:pPr>
            <a:r>
              <a:rPr sz="1000" b="1">
                <a:solidFill>
                  <a:srgbClr val="1B222E"/>
                </a:solidFill>
                <a:latin typeface="Calibri"/>
              </a:rPr>
              <a:t>TFMStereoDecoder</a:t>
            </a:r>
          </a:p>
          <a:p>
            <a:pPr algn="ctr">
              <a:spcBef>
                <a:spcPts val="200"/>
              </a:spcBef>
            </a:pPr>
            <a:r>
              <a:rPr sz="819">
                <a:solidFill>
                  <a:srgbClr val="5B6677"/>
                </a:solidFill>
                <a:latin typeface="Calibri"/>
              </a:rPr>
              <a:t>pilot-locked L−R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5443" y="2478024"/>
            <a:ext cx="12984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40" b="1" i="0">
                <a:solidFill>
                  <a:srgbClr val="D9732A"/>
                </a:solidFill>
                <a:latin typeface="Calibri"/>
              </a:rPr>
              <a:t>75µs de-emph.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33891.5" y="1828800.0"/>
            <a:ext cx="109728.0" cy="0.0"/>
          </a:xfrm>
          <a:prstGeom prst="line">
            <a:avLst/>
          </a:prstGeom>
          <a:ln w="19050">
            <a:solidFill>
              <a:srgbClr val="5B667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843619" y="1234440"/>
            <a:ext cx="1298448" cy="1188720"/>
          </a:xfrm>
          <a:prstGeom prst="roundRect">
            <a:avLst>
              <a:gd name="adj" fmla="val 6000"/>
            </a:avLst>
          </a:prstGeom>
          <a:solidFill>
            <a:srgbClr val="FBE6D4"/>
          </a:solidFill>
          <a:ln w="15875">
            <a:solidFill>
              <a:srgbClr val="D973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000" b="1">
                <a:solidFill>
                  <a:srgbClr val="D9732A"/>
                </a:solidFill>
                <a:latin typeface="Calibri"/>
              </a:rPr>
              <a:t>6</a:t>
            </a:r>
          </a:p>
          <a:p>
            <a:pPr algn="ctr">
              <a:spcBef>
                <a:spcPts val="200"/>
              </a:spcBef>
            </a:pPr>
            <a:r>
              <a:rPr sz="1000" b="1">
                <a:solidFill>
                  <a:srgbClr val="1B222E"/>
                </a:solidFill>
                <a:latin typeface="Calibri"/>
              </a:rPr>
              <a:t>TRationalResamplerS×2</a:t>
            </a:r>
          </a:p>
          <a:p>
            <a:pPr algn="ctr">
              <a:spcBef>
                <a:spcPts val="200"/>
              </a:spcBef>
            </a:pPr>
            <a:r>
              <a:rPr sz="819">
                <a:solidFill>
                  <a:srgbClr val="5B6677"/>
                </a:solidFill>
                <a:latin typeface="Calibri"/>
              </a:rPr>
              <a:t>L, R independently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43619" y="2478024"/>
            <a:ext cx="12984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40" b="1" i="0">
                <a:solidFill>
                  <a:srgbClr val="D9732A"/>
                </a:solidFill>
                <a:latin typeface="Calibri"/>
              </a:rPr>
              <a:t>200 kHz → 48 kHz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0142067.5" y="1828800.0"/>
            <a:ext cx="109728.0" cy="0.0"/>
          </a:xfrm>
          <a:prstGeom prst="line">
            <a:avLst/>
          </a:prstGeom>
          <a:ln w="19050">
            <a:solidFill>
              <a:srgbClr val="5B667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10251795" y="1234440"/>
            <a:ext cx="1298448" cy="1188720"/>
          </a:xfrm>
          <a:prstGeom prst="roundRect">
            <a:avLst>
              <a:gd name="adj" fmla="val 6000"/>
            </a:avLst>
          </a:prstGeom>
          <a:solidFill>
            <a:srgbClr val="DCF3E7"/>
          </a:solidFill>
          <a:ln w="15875">
            <a:solidFill>
              <a:srgbClr val="2E9E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000" b="1">
                <a:solidFill>
                  <a:srgbClr val="2E9E64"/>
                </a:solidFill>
                <a:latin typeface="Calibri"/>
              </a:rPr>
              <a:t>7</a:t>
            </a:r>
          </a:p>
          <a:p>
            <a:pPr algn="ctr">
              <a:spcBef>
                <a:spcPts val="200"/>
              </a:spcBef>
            </a:pPr>
            <a:r>
              <a:rPr sz="1000" b="1">
                <a:solidFill>
                  <a:srgbClr val="1B222E"/>
                </a:solidFill>
                <a:latin typeface="Calibri"/>
              </a:rPr>
              <a:t>Volume + QueueStereo</a:t>
            </a:r>
          </a:p>
          <a:p>
            <a:pPr algn="ctr">
              <a:spcBef>
                <a:spcPts val="200"/>
              </a:spcBef>
            </a:pPr>
            <a:r>
              <a:rPr sz="819">
                <a:solidFill>
                  <a:srgbClr val="5B6677"/>
                </a:solidFill>
                <a:latin typeface="Calibri"/>
              </a:rPr>
              <a:t>AudioL/R * FVolume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51795" y="2478024"/>
            <a:ext cx="12984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40" b="1" i="0">
                <a:solidFill>
                  <a:srgbClr val="2E9E64"/>
                </a:solidFill>
                <a:latin typeface="Calibri"/>
              </a:rPr>
              <a:t>→ TWaveOutPlayer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027267" y="941832"/>
            <a:ext cx="5522976" cy="256032"/>
          </a:xfrm>
          <a:prstGeom prst="roundRect">
            <a:avLst>
              <a:gd name="adj" fmla="val 6000"/>
            </a:avLst>
          </a:prstGeom>
          <a:solidFill>
            <a:srgbClr val="D97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STAGE B — TFMDemodThread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2834640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1">
                <a:solidFill>
                  <a:srgbClr val="1B4778"/>
                </a:solidFill>
                <a:latin typeface="Calibri"/>
              </a:rPr>
              <a:t>Data type: complex baseband IQ (TVMobjC) through stage 3  →  real multiplex/audio (TVMobjS) from stage 4 onward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3611880"/>
            <a:ext cx="11201400" cy="2651760"/>
          </a:xfrm>
          <a:prstGeom prst="roundRect">
            <a:avLst>
              <a:gd name="adj" fmla="val 6000"/>
            </a:avLst>
          </a:prstGeom>
          <a:solidFill>
            <a:srgbClr val="16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376732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D9732A"/>
                </a:solidFill>
                <a:latin typeface="Calibri"/>
              </a:rPr>
              <a:t>Why split here, not elsewhere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4133087"/>
            <a:ext cx="105156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30">
                <a:solidFill>
                  <a:srgbClr val="FFFFFF"/>
                </a:solidFill>
                <a:latin typeface="Calibri"/>
              </a:rPr>
              <a:t>•  Live instrumented timing on real Raspberry Pi 5 + HackRF hardware showed the combined single-thread chain averaging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30">
                <a:solidFill>
                  <a:srgbClr val="FFFFFF"/>
                </a:solidFill>
                <a:latin typeface="Calibri"/>
              </a:rPr>
              <a:t>•  a few percent OVER its per-epoch real-time budget, even after widening the epoch length and the wideband filter's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30">
                <a:solidFill>
                  <a:srgbClr val="FFFFFF"/>
                </a:solidFill>
                <a:latin typeface="Calibri"/>
              </a:rPr>
              <a:t>•  transition band — TWaveOutPlayer's drift compensation was firing on nearly every epoch instead of occasionally,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30">
                <a:solidFill>
                  <a:srgbClr val="FFFFFF"/>
                </a:solidFill>
                <a:latin typeface="Calibri"/>
              </a:rPr>
              <a:t>•  audible as a persistent low-level "motorboat" buzz plus occasional real underrun clicks.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30">
                <a:solidFill>
                  <a:srgbClr val="FFFFFF"/>
                </a:solidFill>
                <a:latin typeface="Calibri"/>
              </a:rPr>
              <a:t>•  The chain naturally splits into two comparable-cost halves: Stage A (mixer + wideband resample, running at the high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30">
                <a:solidFill>
                  <a:srgbClr val="FFFFFF"/>
                </a:solidFill>
                <a:latin typeface="Calibri"/>
              </a:rPr>
              <a:t>•  Fs_in rate) vs. Stage B (FM discriminator + 5-FIR-filter stereo decode + two resamplers, running at 200 kHz) — putting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30">
                <a:solidFill>
                  <a:srgbClr val="FFFFFF"/>
                </a:solidFill>
                <a:latin typeface="Calibri"/>
              </a:rPr>
              <a:t>•  one on each thread lets them run truly concurrently on separate CPU cores instead of time-sharing one.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30">
                <a:solidFill>
                  <a:srgbClr val="FFFFFF"/>
                </a:solidFill>
                <a:latin typeface="Calibri"/>
              </a:rPr>
              <a:t>•  FQueue hands Baseband epochs from A to B; a full queue drops the OLDEST entry rather than blocking Stage A — same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30">
                <a:solidFill>
                  <a:srgbClr val="FFFFFF"/>
                </a:solidFill>
                <a:latin typeface="Calibri"/>
              </a:rPr>
              <a:t>•  "don't fall behind, skip forward" philosophy the shared IQ ring already uses.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1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D97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8FB4DE"/>
                </a:solidFill>
                <a:latin typeface="Calibri"/>
              </a:rPr>
              <a:t>FM PIPELINE — STAGE DETAIL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Class, thread, rate, and role of each stage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329184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8FB4DE"/>
                </a:solidFill>
                <a:latin typeface="Calibr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Calibri"/>
              </a:rPr>
              <a:t>SDR_Radio  —  newVM Lazarus/FPC SDR receiver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640080" cy="365760"/>
          </a:xfrm>
          <a:prstGeom prst="rect">
            <a:avLst/>
          </a:prstGeom>
          <a:solidFill>
            <a:srgbClr val="0E1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1280160"/>
            <a:ext cx="49377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Stage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1234440"/>
            <a:ext cx="1463040" cy="365760"/>
          </a:xfrm>
          <a:prstGeom prst="rect">
            <a:avLst/>
          </a:prstGeom>
          <a:solidFill>
            <a:srgbClr val="0E1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16152" y="1280160"/>
            <a:ext cx="13167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Class / call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06040" y="1234440"/>
            <a:ext cx="1371600" cy="365760"/>
          </a:xfrm>
          <a:prstGeom prst="rect">
            <a:avLst/>
          </a:prstGeom>
          <a:solidFill>
            <a:srgbClr val="0E1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79192" y="1280160"/>
            <a:ext cx="12252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Thread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77640" y="1234440"/>
            <a:ext cx="1371600" cy="365760"/>
          </a:xfrm>
          <a:prstGeom prst="rect">
            <a:avLst/>
          </a:prstGeom>
          <a:solidFill>
            <a:srgbClr val="0E1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50792" y="1280160"/>
            <a:ext cx="12252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Rate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49240" y="1234440"/>
            <a:ext cx="6309360" cy="365760"/>
          </a:xfrm>
          <a:prstGeom prst="rect">
            <a:avLst/>
          </a:prstGeom>
          <a:solidFill>
            <a:srgbClr val="0E1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22392" y="1280160"/>
            <a:ext cx="616305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Role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1600200"/>
            <a:ext cx="640080" cy="475488"/>
          </a:xfrm>
          <a:prstGeom prst="rect">
            <a:avLst/>
          </a:prstGeom>
          <a:solidFill>
            <a:srgbClr val="E9EDF3"/>
          </a:solidFill>
          <a:ln w="6350">
            <a:solidFill>
              <a:srgbClr val="C7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" y="1636776"/>
            <a:ext cx="49377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1" i="0">
                <a:solidFill>
                  <a:srgbClr val="1B222E"/>
                </a:solidFill>
                <a:latin typeface="Calibri"/>
              </a:rPr>
              <a:t>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1600200"/>
            <a:ext cx="1463040" cy="475488"/>
          </a:xfrm>
          <a:prstGeom prst="rect">
            <a:avLst/>
          </a:prstGeom>
          <a:solidFill>
            <a:srgbClr val="E9EDF3"/>
          </a:solidFill>
          <a:ln w="6350">
            <a:solidFill>
              <a:srgbClr val="C7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16152" y="1636776"/>
            <a:ext cx="13167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1B222E"/>
                </a:solidFill>
                <a:latin typeface="Calibri"/>
              </a:rPr>
              <a:t>TryReadEpoch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06040" y="1600200"/>
            <a:ext cx="1371600" cy="475488"/>
          </a:xfrm>
          <a:prstGeom prst="rect">
            <a:avLst/>
          </a:prstGeom>
          <a:solidFill>
            <a:srgbClr val="E9EDF3"/>
          </a:solidFill>
          <a:ln w="6350">
            <a:solidFill>
              <a:srgbClr val="C7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79192" y="1636776"/>
            <a:ext cx="122529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1B222E"/>
                </a:solidFill>
                <a:latin typeface="Calibri"/>
              </a:rPr>
              <a:t>Acquire (A)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77640" y="1600200"/>
            <a:ext cx="1371600" cy="475488"/>
          </a:xfrm>
          <a:prstGeom prst="rect">
            <a:avLst/>
          </a:prstGeom>
          <a:solidFill>
            <a:srgbClr val="E9EDF3"/>
          </a:solidFill>
          <a:ln w="6350">
            <a:solidFill>
              <a:srgbClr val="C7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50792" y="1636776"/>
            <a:ext cx="122529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1B222E"/>
                </a:solidFill>
                <a:latin typeface="Calibri"/>
              </a:rPr>
              <a:t>— → Fs_in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49240" y="1600200"/>
            <a:ext cx="6309360" cy="475488"/>
          </a:xfrm>
          <a:prstGeom prst="rect">
            <a:avLst/>
          </a:prstGeom>
          <a:solidFill>
            <a:srgbClr val="E9EDF3"/>
          </a:solidFill>
          <a:ln w="6350">
            <a:solidFill>
              <a:srgbClr val="C7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22392" y="1636776"/>
            <a:ext cx="616305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1B222E"/>
                </a:solidFill>
                <a:latin typeface="Calibri"/>
              </a:rPr>
              <a:t>Reads N samples for this consumer's own cursor from the shared IQ ring (thread-safe).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2075688"/>
            <a:ext cx="6400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7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6072" y="2112264"/>
            <a:ext cx="49377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1" i="0">
                <a:solidFill>
                  <a:srgbClr val="1B222E"/>
                </a:solidFill>
                <a:latin typeface="Calibri"/>
              </a:rPr>
              <a:t>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2075688"/>
            <a:ext cx="14630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7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16152" y="2112264"/>
            <a:ext cx="13167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1B222E"/>
                </a:solidFill>
                <a:latin typeface="Calibri"/>
              </a:rPr>
              <a:t>TComplexMixer.Process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06040" y="2075688"/>
            <a:ext cx="13716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7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79192" y="2112264"/>
            <a:ext cx="122529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1B222E"/>
                </a:solidFill>
                <a:latin typeface="Calibri"/>
              </a:rPr>
              <a:t>Acquire (A)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977640" y="2075688"/>
            <a:ext cx="13716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7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050792" y="2112264"/>
            <a:ext cx="122529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1B222E"/>
                </a:solidFill>
                <a:latin typeface="Calibri"/>
              </a:rPr>
              <a:t>Fs_in → Fs_in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349240" y="2075688"/>
            <a:ext cx="63093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7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22392" y="2112264"/>
            <a:ext cx="616305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1B222E"/>
                </a:solidFill>
                <a:latin typeface="Calibri"/>
              </a:rPr>
              <a:t>Multiplies IQ by an NCO at −(Tuned−Center)Hz — shifts the chosen station to 0 Hz.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2551176"/>
            <a:ext cx="640080" cy="475488"/>
          </a:xfrm>
          <a:prstGeom prst="rect">
            <a:avLst/>
          </a:prstGeom>
          <a:solidFill>
            <a:srgbClr val="E9EDF3"/>
          </a:solidFill>
          <a:ln w="6350">
            <a:solidFill>
              <a:srgbClr val="C7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6072" y="2587752"/>
            <a:ext cx="49377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1" i="0">
                <a:solidFill>
                  <a:srgbClr val="1B222E"/>
                </a:solidFill>
                <a:latin typeface="Calibri"/>
              </a:rPr>
              <a:t>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43000" y="2551176"/>
            <a:ext cx="1463040" cy="475488"/>
          </a:xfrm>
          <a:prstGeom prst="rect">
            <a:avLst/>
          </a:prstGeom>
          <a:solidFill>
            <a:srgbClr val="E9EDF3"/>
          </a:solidFill>
          <a:ln w="6350">
            <a:solidFill>
              <a:srgbClr val="C7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16152" y="2587752"/>
            <a:ext cx="13167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1B222E"/>
                </a:solidFill>
                <a:latin typeface="Calibri"/>
              </a:rPr>
              <a:t>TRationalResamplerC.Process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606040" y="2551176"/>
            <a:ext cx="1371600" cy="475488"/>
          </a:xfrm>
          <a:prstGeom prst="rect">
            <a:avLst/>
          </a:prstGeom>
          <a:solidFill>
            <a:srgbClr val="E9EDF3"/>
          </a:solidFill>
          <a:ln w="6350">
            <a:solidFill>
              <a:srgbClr val="C7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679192" y="2587752"/>
            <a:ext cx="122529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1B222E"/>
                </a:solidFill>
                <a:latin typeface="Calibri"/>
              </a:rPr>
              <a:t>Acquire (A)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977640" y="2551176"/>
            <a:ext cx="1371600" cy="475488"/>
          </a:xfrm>
          <a:prstGeom prst="rect">
            <a:avLst/>
          </a:prstGeom>
          <a:solidFill>
            <a:srgbClr val="E9EDF3"/>
          </a:solidFill>
          <a:ln w="6350">
            <a:solidFill>
              <a:srgbClr val="C7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050792" y="2587752"/>
            <a:ext cx="122529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1B222E"/>
                </a:solidFill>
                <a:latin typeface="Calibri"/>
              </a:rPr>
              <a:t>Fs_in → 200 kHz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349240" y="2551176"/>
            <a:ext cx="6309360" cy="475488"/>
          </a:xfrm>
          <a:prstGeom prst="rect">
            <a:avLst/>
          </a:prstGeom>
          <a:solidFill>
            <a:srgbClr val="E9EDF3"/>
          </a:solidFill>
          <a:ln w="6350">
            <a:solidFill>
              <a:srgbClr val="C7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22392" y="2587752"/>
            <a:ext cx="616305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1B222E"/>
                </a:solidFill>
                <a:latin typeface="Calibri"/>
              </a:rPr>
              <a:t>Rational resample; anti-alias filter (100 kHz cutoff) doubles as channel-selectivity filter. Result pushed onto FQueue.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" y="3026664"/>
            <a:ext cx="6400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7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76072" y="3063240"/>
            <a:ext cx="49377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1" i="0">
                <a:solidFill>
                  <a:srgbClr val="1B222E"/>
                </a:solidFill>
                <a:latin typeface="Calibri"/>
              </a:rPr>
              <a:t>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143000" y="3026664"/>
            <a:ext cx="14630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7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216152" y="3063240"/>
            <a:ext cx="13167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1B222E"/>
                </a:solidFill>
                <a:latin typeface="Calibri"/>
              </a:rPr>
              <a:t>TFMDemodulator.Process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606040" y="3026664"/>
            <a:ext cx="13716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7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679192" y="3063240"/>
            <a:ext cx="122529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1B222E"/>
                </a:solidFill>
                <a:latin typeface="Calibri"/>
              </a:rPr>
              <a:t>Demod (B)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977640" y="3026664"/>
            <a:ext cx="13716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7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050792" y="3063240"/>
            <a:ext cx="122529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1B222E"/>
                </a:solidFill>
                <a:latin typeface="Calibri"/>
              </a:rPr>
              <a:t>200 kHz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349240" y="3026664"/>
            <a:ext cx="63093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7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22392" y="3063240"/>
            <a:ext cx="616305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1B222E"/>
                </a:solidFill>
                <a:latin typeface="Calibri"/>
              </a:rPr>
              <a:t>Quadrature discriminator, PeakDeviationHz=75000 → real FM multiplex (L+R, 19 kHz pilot, 23–53 kHz L−R).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02920" y="3502152"/>
            <a:ext cx="640080" cy="475488"/>
          </a:xfrm>
          <a:prstGeom prst="rect">
            <a:avLst/>
          </a:prstGeom>
          <a:solidFill>
            <a:srgbClr val="E9EDF3"/>
          </a:solidFill>
          <a:ln w="6350">
            <a:solidFill>
              <a:srgbClr val="C7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76072" y="3538728"/>
            <a:ext cx="49377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1" i="0">
                <a:solidFill>
                  <a:srgbClr val="1B222E"/>
                </a:solidFill>
                <a:latin typeface="Calibri"/>
              </a:rPr>
              <a:t>5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143000" y="3502152"/>
            <a:ext cx="1463040" cy="475488"/>
          </a:xfrm>
          <a:prstGeom prst="rect">
            <a:avLst/>
          </a:prstGeom>
          <a:solidFill>
            <a:srgbClr val="E9EDF3"/>
          </a:solidFill>
          <a:ln w="6350">
            <a:solidFill>
              <a:srgbClr val="C7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216152" y="3538728"/>
            <a:ext cx="13167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1B222E"/>
                </a:solidFill>
                <a:latin typeface="Calibri"/>
              </a:rPr>
              <a:t>TFMStereoDecoder.Process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606040" y="3502152"/>
            <a:ext cx="1371600" cy="475488"/>
          </a:xfrm>
          <a:prstGeom prst="rect">
            <a:avLst/>
          </a:prstGeom>
          <a:solidFill>
            <a:srgbClr val="E9EDF3"/>
          </a:solidFill>
          <a:ln w="6350">
            <a:solidFill>
              <a:srgbClr val="C7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679192" y="3538728"/>
            <a:ext cx="122529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1B222E"/>
                </a:solidFill>
                <a:latin typeface="Calibri"/>
              </a:rPr>
              <a:t>Demod (B)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977640" y="3502152"/>
            <a:ext cx="1371600" cy="475488"/>
          </a:xfrm>
          <a:prstGeom prst="rect">
            <a:avLst/>
          </a:prstGeom>
          <a:solidFill>
            <a:srgbClr val="E9EDF3"/>
          </a:solidFill>
          <a:ln w="6350">
            <a:solidFill>
              <a:srgbClr val="C7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050792" y="3538728"/>
            <a:ext cx="122529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1B222E"/>
                </a:solidFill>
                <a:latin typeface="Calibri"/>
              </a:rPr>
              <a:t>200 kHz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349240" y="3502152"/>
            <a:ext cx="6309360" cy="475488"/>
          </a:xfrm>
          <a:prstGeom prst="rect">
            <a:avLst/>
          </a:prstGeom>
          <a:solidFill>
            <a:srgbClr val="E9EDF3"/>
          </a:solidFill>
          <a:ln w="6350">
            <a:solidFill>
              <a:srgbClr val="C7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422392" y="3538728"/>
            <a:ext cx="616305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1B222E"/>
                </a:solidFill>
                <a:latin typeface="Calibri"/>
              </a:rPr>
              <a:t>Pilot-locked L−R subcarrier decode + 75µs de-emphasis → independent L/R audio, still at 200 kHz.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02920" y="3977640"/>
            <a:ext cx="6400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7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76072" y="4014216"/>
            <a:ext cx="49377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1" i="0">
                <a:solidFill>
                  <a:srgbClr val="1B222E"/>
                </a:solidFill>
                <a:latin typeface="Calibri"/>
              </a:rPr>
              <a:t>6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143000" y="3977640"/>
            <a:ext cx="14630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7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216152" y="4014216"/>
            <a:ext cx="13167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1B222E"/>
                </a:solidFill>
                <a:latin typeface="Calibri"/>
              </a:rPr>
              <a:t>TRationalResamplerS × 2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606040" y="3977640"/>
            <a:ext cx="13716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7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679192" y="4014216"/>
            <a:ext cx="122529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1B222E"/>
                </a:solidFill>
                <a:latin typeface="Calibri"/>
              </a:rPr>
              <a:t>Demod (B)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977640" y="3977640"/>
            <a:ext cx="13716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7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050792" y="4014216"/>
            <a:ext cx="122529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1B222E"/>
                </a:solidFill>
                <a:latin typeface="Calibri"/>
              </a:rPr>
              <a:t>200 kHz → 48 kHz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349240" y="3977640"/>
            <a:ext cx="63093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7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422392" y="4014216"/>
            <a:ext cx="616305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1B222E"/>
                </a:solidFill>
                <a:latin typeface="Calibri"/>
              </a:rPr>
              <a:t>One instance per channel — same reusable resampler class as stage 3, real instead of complex.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02920" y="4453128"/>
            <a:ext cx="640080" cy="475488"/>
          </a:xfrm>
          <a:prstGeom prst="rect">
            <a:avLst/>
          </a:prstGeom>
          <a:solidFill>
            <a:srgbClr val="E9EDF3"/>
          </a:solidFill>
          <a:ln w="6350">
            <a:solidFill>
              <a:srgbClr val="C7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76072" y="4489704"/>
            <a:ext cx="49377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1" i="0">
                <a:solidFill>
                  <a:srgbClr val="1B222E"/>
                </a:solidFill>
                <a:latin typeface="Calibri"/>
              </a:rPr>
              <a:t>7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143000" y="4453128"/>
            <a:ext cx="1463040" cy="475488"/>
          </a:xfrm>
          <a:prstGeom prst="rect">
            <a:avLst/>
          </a:prstGeom>
          <a:solidFill>
            <a:srgbClr val="E9EDF3"/>
          </a:solidFill>
          <a:ln w="6350">
            <a:solidFill>
              <a:srgbClr val="C7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216152" y="4489704"/>
            <a:ext cx="13167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1B222E"/>
                </a:solidFill>
                <a:latin typeface="Calibri"/>
              </a:rPr>
              <a:t>QueueStereo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606040" y="4453128"/>
            <a:ext cx="1371600" cy="475488"/>
          </a:xfrm>
          <a:prstGeom prst="rect">
            <a:avLst/>
          </a:prstGeom>
          <a:solidFill>
            <a:srgbClr val="E9EDF3"/>
          </a:solidFill>
          <a:ln w="6350">
            <a:solidFill>
              <a:srgbClr val="C7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679192" y="4489704"/>
            <a:ext cx="122529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1B222E"/>
                </a:solidFill>
                <a:latin typeface="Calibri"/>
              </a:rPr>
              <a:t>Demod (B)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977640" y="4453128"/>
            <a:ext cx="1371600" cy="475488"/>
          </a:xfrm>
          <a:prstGeom prst="rect">
            <a:avLst/>
          </a:prstGeom>
          <a:solidFill>
            <a:srgbClr val="E9EDF3"/>
          </a:solidFill>
          <a:ln w="6350">
            <a:solidFill>
              <a:srgbClr val="C7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050792" y="4489704"/>
            <a:ext cx="122529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1B222E"/>
                </a:solidFill>
                <a:latin typeface="Calibri"/>
              </a:rPr>
              <a:t>48 kHz → card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349240" y="4453128"/>
            <a:ext cx="6309360" cy="475488"/>
          </a:xfrm>
          <a:prstGeom prst="rect">
            <a:avLst/>
          </a:prstGeom>
          <a:solidFill>
            <a:srgbClr val="E9EDF3"/>
          </a:solidFill>
          <a:ln w="6350">
            <a:solidFill>
              <a:srgbClr val="C7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422392" y="4489704"/>
            <a:ext cx="616305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1B222E"/>
                </a:solidFill>
                <a:latin typeface="Calibri"/>
              </a:rPr>
              <a:t>Volume scale, then ALSA/waveOut write with drift compensation (see later slide).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502920" y="5065776"/>
            <a:ext cx="11201400" cy="868680"/>
          </a:xfrm>
          <a:prstGeom prst="roundRect">
            <a:avLst>
              <a:gd name="adj" fmla="val 6000"/>
            </a:avLst>
          </a:prstGeom>
          <a:solidFill>
            <a:srgbClr val="E9EDF3"/>
          </a:solidFill>
          <a:ln w="12700">
            <a:solidFill>
              <a:srgbClr val="C7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31520" y="5175504"/>
            <a:ext cx="10698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050">
                <a:solidFill>
                  <a:srgbClr val="1B222E"/>
                </a:solidFill>
                <a:latin typeface="Calibri"/>
              </a:rPr>
              <a:t>•  Epoch length is platform-dependent: 20ms / 60,000-sample cap on x86/Windows; widened to 32ms / 64,000 on ARM64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050">
                <a:solidFill>
                  <a:srgbClr val="1B222E"/>
                </a:solidFill>
                <a:latin typeface="Calibri"/>
              </a:rPr>
              <a:t>•  (Raspberry Pi) to amortise fixed per-call TVMobjC/TVMobjS allocation overhead measured on real hardware.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1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1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8FB4DE"/>
                </a:solidFill>
                <a:latin typeface="Calibri"/>
              </a:rPr>
              <a:t>AM PIPELINE — SIGNAL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Single-threaded chain: envelope or synchronous (PLL)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329184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8FB4DE"/>
                </a:solidFill>
                <a:latin typeface="Calibr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Calibri"/>
              </a:rPr>
              <a:t>SDR_Radio  —  newVM Lazarus/FPC SDR receiver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447" y="1325880"/>
            <a:ext cx="1691640" cy="1234440"/>
          </a:xfrm>
          <a:prstGeom prst="roundRect">
            <a:avLst>
              <a:gd name="adj" fmla="val 6000"/>
            </a:avLst>
          </a:prstGeom>
          <a:solidFill>
            <a:srgbClr val="DCE9F7"/>
          </a:solidFill>
          <a:ln w="15875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050" b="1">
                <a:solidFill>
                  <a:srgbClr val="2B6CB0"/>
                </a:solidFill>
                <a:latin typeface="Calibri"/>
              </a:rPr>
              <a:t>1</a:t>
            </a:r>
          </a:p>
          <a:p>
            <a:pPr algn="ctr">
              <a:spcBef>
                <a:spcPts val="200"/>
              </a:spcBef>
            </a:pPr>
            <a:r>
              <a:rPr sz="1100" b="1">
                <a:solidFill>
                  <a:srgbClr val="1B222E"/>
                </a:solidFill>
                <a:latin typeface="Calibri"/>
              </a:rPr>
              <a:t>TryReadEpoch</a:t>
            </a:r>
          </a:p>
          <a:p>
            <a:pPr algn="ctr">
              <a:spcBef>
                <a:spcPts val="200"/>
              </a:spcBef>
            </a:pPr>
            <a:r>
              <a:rPr sz="860">
                <a:solidFill>
                  <a:srgbClr val="5B6677"/>
                </a:solidFill>
                <a:latin typeface="Calibri"/>
              </a:rPr>
              <a:t>TSDRRFSource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301087.5" y="1943100.0"/>
            <a:ext cx="164592.0" cy="0.0"/>
          </a:xfrm>
          <a:prstGeom prst="line">
            <a:avLst/>
          </a:prstGeom>
          <a:ln w="19050">
            <a:solidFill>
              <a:srgbClr val="5B667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09447" y="2615184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60" b="1" i="0">
                <a:solidFill>
                  <a:srgbClr val="2B6CB0"/>
                </a:solidFill>
                <a:latin typeface="Calibri"/>
              </a:rPr>
              <a:t>IQ @ Fs_in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65679" y="1325880"/>
            <a:ext cx="1691640" cy="1234440"/>
          </a:xfrm>
          <a:prstGeom prst="roundRect">
            <a:avLst>
              <a:gd name="adj" fmla="val 6000"/>
            </a:avLst>
          </a:prstGeom>
          <a:solidFill>
            <a:srgbClr val="DAF1F1"/>
          </a:solidFill>
          <a:ln w="15875">
            <a:solidFill>
              <a:srgbClr val="1F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050" b="1">
                <a:solidFill>
                  <a:srgbClr val="1F8A8A"/>
                </a:solidFill>
                <a:latin typeface="Calibri"/>
              </a:rPr>
              <a:t>2</a:t>
            </a:r>
          </a:p>
          <a:p>
            <a:pPr algn="ctr">
              <a:spcBef>
                <a:spcPts val="200"/>
              </a:spcBef>
            </a:pPr>
            <a:r>
              <a:rPr sz="1100" b="1">
                <a:solidFill>
                  <a:srgbClr val="1B222E"/>
                </a:solidFill>
                <a:latin typeface="Calibri"/>
              </a:rPr>
              <a:t>TComplexMixer</a:t>
            </a:r>
          </a:p>
          <a:p>
            <a:pPr algn="ctr">
              <a:spcBef>
                <a:spcPts val="200"/>
              </a:spcBef>
            </a:pPr>
            <a:r>
              <a:rPr sz="860">
                <a:solidFill>
                  <a:srgbClr val="5B6677"/>
                </a:solidFill>
                <a:latin typeface="Calibri"/>
              </a:rPr>
              <a:t>shift to baseband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157319.5" y="1943100.0"/>
            <a:ext cx="164592.0" cy="0.0"/>
          </a:xfrm>
          <a:prstGeom prst="line">
            <a:avLst/>
          </a:prstGeom>
          <a:ln w="19050">
            <a:solidFill>
              <a:srgbClr val="5B667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465679" y="2615184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60" b="1" i="0">
                <a:solidFill>
                  <a:srgbClr val="1F8A8A"/>
                </a:solidFill>
                <a:latin typeface="Calibri"/>
              </a:rPr>
              <a:t>LO=-(Tuned-Center)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1911" y="1325880"/>
            <a:ext cx="1691640" cy="1234440"/>
          </a:xfrm>
          <a:prstGeom prst="roundRect">
            <a:avLst>
              <a:gd name="adj" fmla="val 6000"/>
            </a:avLst>
          </a:prstGeom>
          <a:solidFill>
            <a:srgbClr val="DAF1F1"/>
          </a:solidFill>
          <a:ln w="15875">
            <a:solidFill>
              <a:srgbClr val="1F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050" b="1">
                <a:solidFill>
                  <a:srgbClr val="1F8A8A"/>
                </a:solidFill>
                <a:latin typeface="Calibri"/>
              </a:rPr>
              <a:t>3</a:t>
            </a:r>
          </a:p>
          <a:p>
            <a:pPr algn="ctr">
              <a:spcBef>
                <a:spcPts val="200"/>
              </a:spcBef>
            </a:pPr>
            <a:r>
              <a:rPr sz="1100" b="1">
                <a:solidFill>
                  <a:srgbClr val="1B222E"/>
                </a:solidFill>
                <a:latin typeface="Calibri"/>
              </a:rPr>
              <a:t>TRationalResamplerC</a:t>
            </a:r>
          </a:p>
          <a:p>
            <a:pPr algn="ctr">
              <a:spcBef>
                <a:spcPts val="200"/>
              </a:spcBef>
            </a:pPr>
            <a:r>
              <a:rPr sz="860">
                <a:solidFill>
                  <a:srgbClr val="5B6677"/>
                </a:solidFill>
                <a:latin typeface="Calibri"/>
              </a:rPr>
              <a:t>decimate + AA filter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13551.5" y="1943100.0"/>
            <a:ext cx="164592.0" cy="0.0"/>
          </a:xfrm>
          <a:prstGeom prst="line">
            <a:avLst/>
          </a:prstGeom>
          <a:ln w="19050">
            <a:solidFill>
              <a:srgbClr val="5B667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321911" y="2615184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60" b="1" i="0">
                <a:solidFill>
                  <a:srgbClr val="1F8A8A"/>
                </a:solidFill>
                <a:latin typeface="Calibri"/>
              </a:rPr>
              <a:t>Fs_in → 2×BW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8143" y="1325880"/>
            <a:ext cx="1691640" cy="1234440"/>
          </a:xfrm>
          <a:prstGeom prst="roundRect">
            <a:avLst>
              <a:gd name="adj" fmla="val 6000"/>
            </a:avLst>
          </a:prstGeom>
          <a:solidFill>
            <a:srgbClr val="DAF1F1"/>
          </a:solidFill>
          <a:ln w="15875">
            <a:solidFill>
              <a:srgbClr val="1F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050" b="1">
                <a:solidFill>
                  <a:srgbClr val="1F8A8A"/>
                </a:solidFill>
                <a:latin typeface="Calibri"/>
              </a:rPr>
              <a:t>4</a:t>
            </a:r>
          </a:p>
          <a:p>
            <a:pPr algn="ctr">
              <a:spcBef>
                <a:spcPts val="200"/>
              </a:spcBef>
            </a:pPr>
            <a:r>
              <a:rPr sz="1100" b="1">
                <a:solidFill>
                  <a:srgbClr val="1B222E"/>
                </a:solidFill>
                <a:latin typeface="Calibri"/>
              </a:rPr>
              <a:t>TAMDemodulator</a:t>
            </a:r>
          </a:p>
          <a:p>
            <a:pPr algn="ctr">
              <a:spcBef>
                <a:spcPts val="200"/>
              </a:spcBef>
            </a:pPr>
            <a:r>
              <a:rPr sz="860">
                <a:solidFill>
                  <a:srgbClr val="5B6677"/>
                </a:solidFill>
                <a:latin typeface="Calibri"/>
              </a:rPr>
              <a:t>envelope / PLL-sync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869783.5" y="1943100.0"/>
            <a:ext cx="164592.0" cy="0.0"/>
          </a:xfrm>
          <a:prstGeom prst="line">
            <a:avLst/>
          </a:prstGeom>
          <a:ln w="19050">
            <a:solidFill>
              <a:srgbClr val="5B667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178143" y="2615184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60" b="1" i="0">
                <a:solidFill>
                  <a:srgbClr val="1F8A8A"/>
                </a:solidFill>
                <a:latin typeface="Calibri"/>
              </a:rPr>
              <a:t>→ mono @ 2×BW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34375" y="1325880"/>
            <a:ext cx="1691640" cy="1234440"/>
          </a:xfrm>
          <a:prstGeom prst="roundRect">
            <a:avLst>
              <a:gd name="adj" fmla="val 6000"/>
            </a:avLst>
          </a:prstGeom>
          <a:solidFill>
            <a:srgbClr val="DAF1F1"/>
          </a:solidFill>
          <a:ln w="15875">
            <a:solidFill>
              <a:srgbClr val="1F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050" b="1">
                <a:solidFill>
                  <a:srgbClr val="1F8A8A"/>
                </a:solidFill>
                <a:latin typeface="Calibri"/>
              </a:rPr>
              <a:t>5</a:t>
            </a:r>
          </a:p>
          <a:p>
            <a:pPr algn="ctr">
              <a:spcBef>
                <a:spcPts val="200"/>
              </a:spcBef>
            </a:pPr>
            <a:r>
              <a:rPr sz="1100" b="1">
                <a:solidFill>
                  <a:srgbClr val="1B222E"/>
                </a:solidFill>
                <a:latin typeface="Calibri"/>
              </a:rPr>
              <a:t>TRationalResamplerS</a:t>
            </a:r>
          </a:p>
          <a:p>
            <a:pPr algn="ctr">
              <a:spcBef>
                <a:spcPts val="200"/>
              </a:spcBef>
            </a:pPr>
            <a:r>
              <a:rPr sz="860">
                <a:solidFill>
                  <a:srgbClr val="5B6677"/>
                </a:solidFill>
                <a:latin typeface="Calibri"/>
              </a:rPr>
              <a:t>single (mono) channel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726015.5" y="1943100.0"/>
            <a:ext cx="164592.0" cy="0.0"/>
          </a:xfrm>
          <a:prstGeom prst="line">
            <a:avLst/>
          </a:prstGeom>
          <a:ln w="19050">
            <a:solidFill>
              <a:srgbClr val="5B667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034375" y="2615184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60" b="1" i="0">
                <a:solidFill>
                  <a:srgbClr val="1F8A8A"/>
                </a:solidFill>
                <a:latin typeface="Calibri"/>
              </a:rPr>
              <a:t>2×BW → 48 kHz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90607" y="1325880"/>
            <a:ext cx="1691640" cy="1234440"/>
          </a:xfrm>
          <a:prstGeom prst="roundRect">
            <a:avLst>
              <a:gd name="adj" fmla="val 6000"/>
            </a:avLst>
          </a:prstGeom>
          <a:solidFill>
            <a:srgbClr val="DCF3E7"/>
          </a:solidFill>
          <a:ln w="15875">
            <a:solidFill>
              <a:srgbClr val="2E9E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050" b="1">
                <a:solidFill>
                  <a:srgbClr val="2E9E64"/>
                </a:solidFill>
                <a:latin typeface="Calibri"/>
              </a:rPr>
              <a:t>6</a:t>
            </a:r>
          </a:p>
          <a:p>
            <a:pPr algn="ctr">
              <a:spcBef>
                <a:spcPts val="200"/>
              </a:spcBef>
            </a:pPr>
            <a:r>
              <a:rPr sz="1100" b="1">
                <a:solidFill>
                  <a:srgbClr val="1B222E"/>
                </a:solidFill>
                <a:latin typeface="Calibri"/>
              </a:rPr>
              <a:t>Volume + QueueStereo</a:t>
            </a:r>
          </a:p>
          <a:p>
            <a:pPr algn="ctr">
              <a:spcBef>
                <a:spcPts val="200"/>
              </a:spcBef>
            </a:pPr>
            <a:r>
              <a:rPr sz="860">
                <a:solidFill>
                  <a:srgbClr val="5B6677"/>
                </a:solidFill>
                <a:latin typeface="Calibri"/>
              </a:rPr>
              <a:t>duplicate mono → L=R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90607" y="2615184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60" b="1" i="0">
                <a:solidFill>
                  <a:srgbClr val="2E9E64"/>
                </a:solidFill>
                <a:latin typeface="Calibri"/>
              </a:rPr>
              <a:t>→ TWaveOutPlayer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9447" y="1033272"/>
            <a:ext cx="10972800" cy="256032"/>
          </a:xfrm>
          <a:prstGeom prst="roundRect">
            <a:avLst>
              <a:gd name="adj" fmla="val 6000"/>
            </a:avLst>
          </a:prstGeom>
          <a:solidFill>
            <a:srgbClr val="1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TAMDSPThread — single thread, whole chain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3017520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30" b="0" i="1">
                <a:solidFill>
                  <a:srgbClr val="115454"/>
                </a:solidFill>
                <a:latin typeface="Calibri"/>
              </a:rPr>
              <a:t>BW = BandwidthHz (caller-selectable, default 5 kHz, range 1–10 kHz) — BasebandRateHz = BW×2 is the exact Nyquist rate for double-sideband AM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3337560"/>
            <a:ext cx="5486400" cy="2880360"/>
          </a:xfrm>
          <a:prstGeom prst="roundRect">
            <a:avLst>
              <a:gd name="adj" fmla="val 6000"/>
            </a:avLst>
          </a:prstGeom>
          <a:solidFill>
            <a:srgbClr val="DAF1F1"/>
          </a:solidFill>
          <a:ln w="12700">
            <a:solidFill>
              <a:srgbClr val="1F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347472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15454"/>
                </a:solidFill>
                <a:latin typeface="Calibri"/>
              </a:rPr>
              <a:t>TAMDemodulator — two modes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3858768"/>
            <a:ext cx="50292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100">
                <a:solidFill>
                  <a:srgbClr val="1B222E"/>
                </a:solidFill>
                <a:latin typeface="Calibri"/>
              </a:rPr>
              <a:t>•  Envelope (Synchronous=False, default): |I+jQ| = sqrt(re²+im²) — the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100">
                <a:solidFill>
                  <a:srgbClr val="1B222E"/>
                </a:solidFill>
                <a:latin typeface="Calibri"/>
              </a:rPr>
              <a:t>•  classic diode-detector equivalent. Simple, but selective fading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100">
                <a:solidFill>
                  <a:srgbClr val="1B222E"/>
                </a:solidFill>
                <a:latin typeface="Calibri"/>
              </a:rPr>
              <a:t>•  distorts the recovered envelope directly.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100">
                <a:solidFill>
                  <a:srgbClr val="1B222E"/>
                </a:solidFill>
                <a:latin typeface="Calibri"/>
              </a:rPr>
              <a:t>•  Synchronous (Synchronous=True): a 2nd-order Costas-loop-style PLL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100">
                <a:solidFill>
                  <a:srgbClr val="1B222E"/>
                </a:solidFill>
                <a:latin typeface="Calibri"/>
              </a:rPr>
              <a:t>•  tracks the carrier phase (30 Hz loop bandwidth); rotating IQ by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100">
                <a:solidFill>
                  <a:srgbClr val="1B222E"/>
                </a:solidFill>
                <a:latin typeface="Calibri"/>
              </a:rPr>
              <a:t>•  −phase gives a coherently-demodulated audio signal with better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100">
                <a:solidFill>
                  <a:srgbClr val="1B222E"/>
                </a:solidFill>
                <a:latin typeface="Calibri"/>
              </a:rPr>
              <a:t>•  noise/fading rejection.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100">
                <a:solidFill>
                  <a:srgbClr val="1B222E"/>
                </a:solidFill>
                <a:latin typeface="Calibri"/>
              </a:rPr>
              <a:t>•  Switchable LIVE with no chain rebuild — Process takes Synchronous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100">
                <a:solidFill>
                  <a:srgbClr val="1B222E"/>
                </a:solidFill>
                <a:latin typeface="Calibri"/>
              </a:rPr>
              <a:t>•  as a per-call argument, so toggling doesn't reset PLL/DC state.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3337560"/>
            <a:ext cx="5486400" cy="2880360"/>
          </a:xfrm>
          <a:prstGeom prst="roundRect">
            <a:avLst>
              <a:gd name="adj" fmla="val 6000"/>
            </a:avLst>
          </a:prstGeom>
          <a:solidFill>
            <a:srgbClr val="E9EDF3"/>
          </a:solidFill>
          <a:ln w="12700">
            <a:solidFill>
              <a:srgbClr val="C7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347472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B222E"/>
                </a:solidFill>
                <a:latin typeface="Calibri"/>
              </a:rPr>
              <a:t>Why single-threaded, unlike FM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3858768"/>
            <a:ext cx="50292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100">
                <a:solidFill>
                  <a:srgbClr val="1B222E"/>
                </a:solidFill>
                <a:latin typeface="Calibri"/>
              </a:rPr>
              <a:t>•  FM's own two-thread split exists because TFMStereoDecoder alone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100">
                <a:solidFill>
                  <a:srgbClr val="1B222E"/>
                </a:solidFill>
                <a:latin typeface="Calibri"/>
              </a:rPr>
              <a:t>•  runs FIVE FIR filters plus two further resamplers — measurably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100">
                <a:solidFill>
                  <a:srgbClr val="1B222E"/>
                </a:solidFill>
                <a:latin typeface="Calibri"/>
              </a:rPr>
              <a:t>•  couldn't keep up on one core on real ARM64 hardware.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100">
                <a:solidFill>
                  <a:srgbClr val="1B222E"/>
                </a:solidFill>
                <a:latin typeface="Calibri"/>
              </a:rPr>
              <a:t>•  TAMDemodulator is a plain O(N) loop with no filtering at all, and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100">
                <a:solidFill>
                  <a:srgbClr val="1B222E"/>
                </a:solidFill>
                <a:latin typeface="Calibri"/>
              </a:rPr>
              <a:t>•  there's only ONE output resampler instead of two — an order of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100">
                <a:solidFill>
                  <a:srgbClr val="1B222E"/>
                </a:solidFill>
                <a:latin typeface="Calibri"/>
              </a:rPr>
              <a:t>•  magnitude less per-sample work.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100">
                <a:solidFill>
                  <a:srgbClr val="1B222E"/>
                </a:solidFill>
                <a:latin typeface="Calibri"/>
              </a:rPr>
              <a:t>•  Nothing has shown a need for a split here; revisit only if real-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100">
                <a:solidFill>
                  <a:srgbClr val="1B222E"/>
                </a:solidFill>
                <a:latin typeface="Calibri"/>
              </a:rPr>
              <a:t>•  hardware timing ever shows a deficit, same evidence-driven approach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100">
                <a:solidFill>
                  <a:srgbClr val="1B222E"/>
                </a:solidFill>
                <a:latin typeface="Calibri"/>
              </a:rPr>
              <a:t>•  that justified FM's own split (not done preemptively).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1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1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8FB4DE"/>
                </a:solidFill>
                <a:latin typeface="Calibri"/>
              </a:rPr>
              <a:t>AM PIPELINE — STAGE DETAIL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Class, rate, and role — plus live bandwidth changes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329184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8FB4DE"/>
                </a:solidFill>
                <a:latin typeface="Calibr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Calibri"/>
              </a:rPr>
              <a:t>SDR_Radio  —  newVM Lazarus/FPC SDR receiver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640080" cy="365760"/>
          </a:xfrm>
          <a:prstGeom prst="rect">
            <a:avLst/>
          </a:prstGeom>
          <a:solidFill>
            <a:srgbClr val="0E1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1280160"/>
            <a:ext cx="49377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Stage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1234440"/>
            <a:ext cx="1874519" cy="365760"/>
          </a:xfrm>
          <a:prstGeom prst="rect">
            <a:avLst/>
          </a:prstGeom>
          <a:solidFill>
            <a:srgbClr val="0E1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16152" y="1280160"/>
            <a:ext cx="172821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Class / call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19" y="1234440"/>
            <a:ext cx="1645920" cy="365760"/>
          </a:xfrm>
          <a:prstGeom prst="rect">
            <a:avLst/>
          </a:prstGeom>
          <a:solidFill>
            <a:srgbClr val="0E1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90671" y="1280160"/>
            <a:ext cx="149961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Rate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39" y="1234440"/>
            <a:ext cx="6492240" cy="365760"/>
          </a:xfrm>
          <a:prstGeom prst="rect">
            <a:avLst/>
          </a:prstGeom>
          <a:solidFill>
            <a:srgbClr val="0E1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36591" y="1280160"/>
            <a:ext cx="6345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Role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1600200"/>
            <a:ext cx="640080" cy="502920"/>
          </a:xfrm>
          <a:prstGeom prst="rect">
            <a:avLst/>
          </a:prstGeom>
          <a:solidFill>
            <a:srgbClr val="E9EDF3"/>
          </a:solidFill>
          <a:ln w="6350">
            <a:solidFill>
              <a:srgbClr val="C7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" y="1636776"/>
            <a:ext cx="493776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1" i="0">
                <a:solidFill>
                  <a:srgbClr val="1B222E"/>
                </a:solidFill>
                <a:latin typeface="Calibri"/>
              </a:rPr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1600200"/>
            <a:ext cx="1874519" cy="502920"/>
          </a:xfrm>
          <a:prstGeom prst="rect">
            <a:avLst/>
          </a:prstGeom>
          <a:solidFill>
            <a:srgbClr val="E9EDF3"/>
          </a:solidFill>
          <a:ln w="6350">
            <a:solidFill>
              <a:srgbClr val="C7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16152" y="1636776"/>
            <a:ext cx="1728215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1B222E"/>
                </a:solidFill>
                <a:latin typeface="Calibri"/>
              </a:rPr>
              <a:t>TryReadEpoch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19" y="1600200"/>
            <a:ext cx="1645920" cy="502920"/>
          </a:xfrm>
          <a:prstGeom prst="rect">
            <a:avLst/>
          </a:prstGeom>
          <a:solidFill>
            <a:srgbClr val="E9EDF3"/>
          </a:solidFill>
          <a:ln w="6350">
            <a:solidFill>
              <a:srgbClr val="C7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90671" y="1636776"/>
            <a:ext cx="1499616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1B222E"/>
                </a:solidFill>
                <a:latin typeface="Calibri"/>
              </a:rPr>
              <a:t>— → Fs_in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63439" y="1600200"/>
            <a:ext cx="6492240" cy="502920"/>
          </a:xfrm>
          <a:prstGeom prst="rect">
            <a:avLst/>
          </a:prstGeom>
          <a:solidFill>
            <a:srgbClr val="E9EDF3"/>
          </a:solidFill>
          <a:ln w="6350">
            <a:solidFill>
              <a:srgbClr val="C7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36591" y="1636776"/>
            <a:ext cx="6345936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1B222E"/>
                </a:solidFill>
                <a:latin typeface="Calibri"/>
              </a:rPr>
              <a:t>Reads N samples for this consumer's own cursor from the shared IQ ring.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2103120"/>
            <a:ext cx="6400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6072" y="2139696"/>
            <a:ext cx="493776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1" i="0">
                <a:solidFill>
                  <a:srgbClr val="1B222E"/>
                </a:solidFill>
                <a:latin typeface="Calibri"/>
              </a:rPr>
              <a:t>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2103120"/>
            <a:ext cx="1874519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16152" y="2139696"/>
            <a:ext cx="1728215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1B222E"/>
                </a:solidFill>
                <a:latin typeface="Calibri"/>
              </a:rPr>
              <a:t>TComplexMixer.Process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17519" y="2103120"/>
            <a:ext cx="1645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90671" y="2139696"/>
            <a:ext cx="1499616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1B222E"/>
                </a:solidFill>
                <a:latin typeface="Calibri"/>
              </a:rPr>
              <a:t>Fs_in → Fs_in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63439" y="2103120"/>
            <a:ext cx="64922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36591" y="2139696"/>
            <a:ext cx="6345936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1B222E"/>
                </a:solidFill>
                <a:latin typeface="Calibri"/>
              </a:rPr>
              <a:t>Shifts the chosen station to 0 Hz — identical to FM's own mixer stage.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2606040"/>
            <a:ext cx="640080" cy="502920"/>
          </a:xfrm>
          <a:prstGeom prst="rect">
            <a:avLst/>
          </a:prstGeom>
          <a:solidFill>
            <a:srgbClr val="E9EDF3"/>
          </a:solidFill>
          <a:ln w="6350">
            <a:solidFill>
              <a:srgbClr val="C7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6072" y="2642616"/>
            <a:ext cx="493776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1" i="0">
                <a:solidFill>
                  <a:srgbClr val="1B222E"/>
                </a:solidFill>
                <a:latin typeface="Calibri"/>
              </a:rPr>
              <a:t>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43000" y="2606040"/>
            <a:ext cx="1874519" cy="502920"/>
          </a:xfrm>
          <a:prstGeom prst="rect">
            <a:avLst/>
          </a:prstGeom>
          <a:solidFill>
            <a:srgbClr val="E9EDF3"/>
          </a:solidFill>
          <a:ln w="6350">
            <a:solidFill>
              <a:srgbClr val="C7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16152" y="2642616"/>
            <a:ext cx="1728215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1B222E"/>
                </a:solidFill>
                <a:latin typeface="Calibri"/>
              </a:rPr>
              <a:t>TRationalResamplerC.Process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017519" y="2606040"/>
            <a:ext cx="1645920" cy="502920"/>
          </a:xfrm>
          <a:prstGeom prst="rect">
            <a:avLst/>
          </a:prstGeom>
          <a:solidFill>
            <a:srgbClr val="E9EDF3"/>
          </a:solidFill>
          <a:ln w="6350">
            <a:solidFill>
              <a:srgbClr val="C7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090671" y="2642616"/>
            <a:ext cx="1499616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1B222E"/>
                </a:solidFill>
                <a:latin typeface="Calibri"/>
              </a:rPr>
              <a:t>Fs_in → 2×BW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63439" y="2606040"/>
            <a:ext cx="6492240" cy="502920"/>
          </a:xfrm>
          <a:prstGeom prst="rect">
            <a:avLst/>
          </a:prstGeom>
          <a:solidFill>
            <a:srgbClr val="E9EDF3"/>
          </a:solidFill>
          <a:ln w="6350">
            <a:solidFill>
              <a:srgbClr val="C7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36591" y="2642616"/>
            <a:ext cx="6345936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1B222E"/>
                </a:solidFill>
                <a:latin typeface="Calibri"/>
              </a:rPr>
              <a:t>TransitionBW = Fs_in×2.5% (same fraction as FM's original, non-ARM64 value — AM's lighter downstream cost hasn't needed FM's extra headroom).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3108960"/>
            <a:ext cx="6400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76072" y="3145536"/>
            <a:ext cx="493776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1" i="0">
                <a:solidFill>
                  <a:srgbClr val="1B222E"/>
                </a:solidFill>
                <a:latin typeface="Calibri"/>
              </a:rPr>
              <a:t>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43000" y="3108960"/>
            <a:ext cx="1874519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216152" y="3145536"/>
            <a:ext cx="1728215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1B222E"/>
                </a:solidFill>
                <a:latin typeface="Calibri"/>
              </a:rPr>
              <a:t>TAMDemodulator.Process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017519" y="3108960"/>
            <a:ext cx="1645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090671" y="3145536"/>
            <a:ext cx="1499616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1B222E"/>
                </a:solidFill>
                <a:latin typeface="Calibri"/>
              </a:rPr>
              <a:t>2×BW → 2×BW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63439" y="3108960"/>
            <a:ext cx="64922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36591" y="3145536"/>
            <a:ext cx="6345936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1B222E"/>
                </a:solidFill>
                <a:latin typeface="Calibri"/>
              </a:rPr>
              <a:t>Envelope sqrt(re²+im²) or PLL-coherent rotation, selected per-call by Synchronous. DC-average removed in envelope mode.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" y="3611880"/>
            <a:ext cx="640080" cy="502920"/>
          </a:xfrm>
          <a:prstGeom prst="rect">
            <a:avLst/>
          </a:prstGeom>
          <a:solidFill>
            <a:srgbClr val="E9EDF3"/>
          </a:solidFill>
          <a:ln w="6350">
            <a:solidFill>
              <a:srgbClr val="C7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76072" y="3648456"/>
            <a:ext cx="493776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1" i="0">
                <a:solidFill>
                  <a:srgbClr val="1B222E"/>
                </a:solidFill>
                <a:latin typeface="Calibri"/>
              </a:rPr>
              <a:t>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143000" y="3611880"/>
            <a:ext cx="1874519" cy="502920"/>
          </a:xfrm>
          <a:prstGeom prst="rect">
            <a:avLst/>
          </a:prstGeom>
          <a:solidFill>
            <a:srgbClr val="E9EDF3"/>
          </a:solidFill>
          <a:ln w="6350">
            <a:solidFill>
              <a:srgbClr val="C7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216152" y="3648456"/>
            <a:ext cx="1728215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1B222E"/>
                </a:solidFill>
                <a:latin typeface="Calibri"/>
              </a:rPr>
              <a:t>TRationalResamplerS.Process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017519" y="3611880"/>
            <a:ext cx="1645920" cy="502920"/>
          </a:xfrm>
          <a:prstGeom prst="rect">
            <a:avLst/>
          </a:prstGeom>
          <a:solidFill>
            <a:srgbClr val="E9EDF3"/>
          </a:solidFill>
          <a:ln w="6350">
            <a:solidFill>
              <a:srgbClr val="C7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090671" y="3648456"/>
            <a:ext cx="1499616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1B222E"/>
                </a:solidFill>
                <a:latin typeface="Calibri"/>
              </a:rPr>
              <a:t>2×BW → 48 kHz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63439" y="3611880"/>
            <a:ext cx="6492240" cy="502920"/>
          </a:xfrm>
          <a:prstGeom prst="rect">
            <a:avLst/>
          </a:prstGeom>
          <a:solidFill>
            <a:srgbClr val="E9EDF3"/>
          </a:solidFill>
          <a:ln w="6350">
            <a:solidFill>
              <a:srgbClr val="C7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36591" y="3648456"/>
            <a:ext cx="6345936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1B222E"/>
                </a:solidFill>
                <a:latin typeface="Calibri"/>
              </a:rPr>
              <a:t>TransitionBW = BasebandRateHz×20% — must scale with BW (2–20 kHz range), unlike FM's fixed 8 kHz.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02920" y="4114800"/>
            <a:ext cx="6400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76072" y="4151376"/>
            <a:ext cx="493776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1" i="0">
                <a:solidFill>
                  <a:srgbClr val="1B222E"/>
                </a:solidFill>
                <a:latin typeface="Calibri"/>
              </a:rPr>
              <a:t>6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143000" y="4114800"/>
            <a:ext cx="1874519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216152" y="4151376"/>
            <a:ext cx="1728215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1B222E"/>
                </a:solidFill>
                <a:latin typeface="Calibri"/>
              </a:rPr>
              <a:t>QueueStereo(Audio, Audio)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017519" y="4114800"/>
            <a:ext cx="1645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090671" y="4151376"/>
            <a:ext cx="1499616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1B222E"/>
                </a:solidFill>
                <a:latin typeface="Calibri"/>
              </a:rPr>
              <a:t>48 kHz → card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63439" y="4114800"/>
            <a:ext cx="64922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736591" y="4151376"/>
            <a:ext cx="6345936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1B222E"/>
                </a:solidFill>
                <a:latin typeface="Calibri"/>
              </a:rPr>
              <a:t>Mono duplicated to both channels — AM broadcast carries no stereo subcarrier.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02920" y="4754880"/>
            <a:ext cx="11201400" cy="1234440"/>
          </a:xfrm>
          <a:prstGeom prst="roundRect">
            <a:avLst>
              <a:gd name="adj" fmla="val 6000"/>
            </a:avLst>
          </a:prstGeom>
          <a:solidFill>
            <a:srgbClr val="F9E0DF"/>
          </a:solidFill>
          <a:ln w="12700">
            <a:solidFill>
              <a:srgbClr val="C44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31520" y="4873752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4403E"/>
                </a:solidFill>
                <a:latin typeface="Calibri"/>
              </a:rPr>
              <a:t>BandwidthHz — live-changeable, but not glitch-free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31520" y="5193792"/>
            <a:ext cx="106070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080">
                <a:solidFill>
                  <a:srgbClr val="1B222E"/>
                </a:solidFill>
                <a:latin typeface="Calibri"/>
              </a:rPr>
              <a:t>•  Unlike TunedFrequencyHz (just an NCO frequency), BandwidthHz determines BasebandRateHz — every stage from the resampler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080">
                <a:solidFill>
                  <a:srgbClr val="1B222E"/>
                </a:solidFill>
                <a:latin typeface="Calibri"/>
              </a:rPr>
              <a:t>•  onward must be rebuilt from scratch. SetBandwidthHz stops the DSP thread, tears down and rebuilds the chain, restarts it —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080">
                <a:solidFill>
                  <a:srgbClr val="1B222E"/>
                </a:solidFill>
                <a:latin typeface="Calibri"/>
              </a:rPr>
              <a:t>•  a short audible discontinuity, the same kind of "click" a real radio's own bandwidth-filter switch makes.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1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8FB4DE"/>
                </a:solidFill>
                <a:latin typeface="Calibri"/>
              </a:rPr>
              <a:t>DATA COMMUNICATION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Shared IQ ring (3 consumers) + FM's internal handoff queue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329184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8FB4DE"/>
                </a:solidFill>
                <a:latin typeface="Calibr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Calibri"/>
              </a:rPr>
              <a:t>SDR_Radio  —  newVM Lazarus/FPC SDR receiver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280160"/>
            <a:ext cx="2286000" cy="914400"/>
          </a:xfrm>
          <a:prstGeom prst="roundRect">
            <a:avLst>
              <a:gd name="adj" fmla="val 6000"/>
            </a:avLst>
          </a:prstGeom>
          <a:solidFill>
            <a:srgbClr val="E9EDF3"/>
          </a:solidFill>
          <a:ln w="15875">
            <a:solidFill>
              <a:srgbClr val="5B66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150" b="1">
                <a:solidFill>
                  <a:srgbClr val="1B222E"/>
                </a:solidFill>
                <a:latin typeface="Calibri"/>
              </a:rPr>
              <a:t>TSDRRingBuffer</a:t>
            </a:r>
          </a:p>
          <a:p>
            <a:pPr algn="ctr">
              <a:spcBef>
                <a:spcPts val="200"/>
              </a:spcBef>
            </a:pPr>
            <a:r>
              <a:rPr sz="950">
                <a:solidFill>
                  <a:srgbClr val="1B222E"/>
                </a:solidFill>
                <a:latin typeface="Calibri"/>
              </a:rPr>
              <a:t>device-level, single-consumer
(inside TSDRDevice)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51760" y="1737360"/>
            <a:ext cx="594360" cy="0"/>
          </a:xfrm>
          <a:prstGeom prst="line">
            <a:avLst/>
          </a:prstGeom>
          <a:ln w="22225">
            <a:solidFill>
              <a:srgbClr val="5B667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246120" y="1188720"/>
            <a:ext cx="2331720" cy="1097280"/>
          </a:xfrm>
          <a:prstGeom prst="roundRect">
            <a:avLst>
              <a:gd name="adj" fmla="val 6000"/>
            </a:avLst>
          </a:prstGeom>
          <a:solidFill>
            <a:srgbClr val="DCE9F7"/>
          </a:solidFill>
          <a:ln w="15875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00" b="1">
                <a:solidFill>
                  <a:srgbClr val="1B4778"/>
                </a:solidFill>
                <a:latin typeface="Calibri"/>
              </a:rPr>
              <a:t>TSDRPollThread</a:t>
            </a:r>
          </a:p>
          <a:p>
            <a:pPr algn="ctr">
              <a:spcBef>
                <a:spcPts val="200"/>
              </a:spcBef>
            </a:pPr>
            <a:r>
              <a:rPr sz="950">
                <a:solidFill>
                  <a:srgbClr val="1B4778"/>
                </a:solidFill>
                <a:latin typeface="Calibri"/>
              </a:rPr>
              <a:t>sole caller of
FDevice.TryReadEpoch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577840" y="1737360"/>
            <a:ext cx="548640" cy="0"/>
          </a:xfrm>
          <a:prstGeom prst="line">
            <a:avLst/>
          </a:prstGeom>
          <a:ln w="22225">
            <a:solidFill>
              <a:srgbClr val="2B6CB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126480" y="1051560"/>
            <a:ext cx="4206240" cy="1371600"/>
          </a:xfrm>
          <a:prstGeom prst="roundRect">
            <a:avLst>
              <a:gd name="adj" fmla="val 6000"/>
            </a:avLst>
          </a:prstGeom>
          <a:solidFill>
            <a:srgbClr val="16223B"/>
          </a:solidFill>
          <a:ln w="19050">
            <a:solidFill>
              <a:srgbClr val="0E17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152144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D9732A"/>
                </a:solidFill>
                <a:latin typeface="Calibri"/>
              </a:rPr>
              <a:t>FStreamRing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444752"/>
            <a:ext cx="38404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80" b="0" i="0">
                <a:solidFill>
                  <a:srgbClr val="FFFFFF"/>
                </a:solidFill>
                <a:latin typeface="Calibri"/>
              </a:rPr>
              <a:t>array of TComplex8, ~1s capacity,</a:t>
            </a:r>
          </a:p>
          <a:p>
            <a:pPr algn="l">
              <a:lnSpc>
                <a:spcPct val="115000"/>
              </a:lnSpc>
            </a:pPr>
            <a:r>
              <a:rPr sz="980" b="0" i="0">
                <a:solidFill>
                  <a:srgbClr val="FFFFFF"/>
                </a:solidFill>
                <a:latin typeface="Calibri"/>
              </a:rPr>
              <a:t>circular; guarded by FStreamLock</a:t>
            </a:r>
          </a:p>
          <a:p>
            <a:pPr algn="l">
              <a:lnSpc>
                <a:spcPct val="115000"/>
              </a:lnSpc>
            </a:pPr>
            <a:r>
              <a:rPr sz="980" b="0" i="0">
                <a:solidFill>
                  <a:srgbClr val="FFFFFF"/>
                </a:solidFill>
                <a:latin typeface="Calibri"/>
              </a:rPr>
              <a:t>(TCriticalSection). 3 independent</a:t>
            </a:r>
          </a:p>
          <a:p>
            <a:pPr algn="l">
              <a:lnSpc>
                <a:spcPct val="115000"/>
              </a:lnSpc>
            </a:pPr>
            <a:r>
              <a:rPr sz="980" b="0" i="0">
                <a:solidFill>
                  <a:srgbClr val="FFFFFF"/>
                </a:solidFill>
                <a:latin typeface="Calibri"/>
              </a:rPr>
              <a:t>read cursors, one per consumer below.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697480"/>
            <a:ext cx="3520440" cy="777240"/>
          </a:xfrm>
          <a:prstGeom prst="roundRect">
            <a:avLst>
              <a:gd name="adj" fmla="val 6000"/>
            </a:avLst>
          </a:prstGeom>
          <a:solidFill>
            <a:srgbClr val="E9E2F8"/>
          </a:solidFill>
          <a:ln w="15875">
            <a:solidFill>
              <a:srgbClr val="7A5C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150" b="1">
                <a:solidFill>
                  <a:srgbClr val="4B358C"/>
                </a:solidFill>
                <a:latin typeface="Calibri"/>
              </a:rPr>
              <a:t>TSDRSpectrumAnalyser</a:t>
            </a:r>
          </a:p>
          <a:p>
            <a:pPr algn="ctr">
              <a:spcBef>
                <a:spcPts val="200"/>
              </a:spcBef>
            </a:pPr>
            <a:r>
              <a:rPr sz="950">
                <a:solidFill>
                  <a:srgbClr val="4B358C"/>
                </a:solidFill>
                <a:latin typeface="Calibri"/>
              </a:rPr>
              <a:t>GUI-thread timer, own cursor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0" y="2697480"/>
            <a:ext cx="3520440" cy="777240"/>
          </a:xfrm>
          <a:prstGeom prst="roundRect">
            <a:avLst>
              <a:gd name="adj" fmla="val 6000"/>
            </a:avLst>
          </a:prstGeom>
          <a:solidFill>
            <a:srgbClr val="FBE6D4"/>
          </a:solidFill>
          <a:ln w="15875">
            <a:solidFill>
              <a:srgbClr val="D973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150" b="1">
                <a:solidFill>
                  <a:srgbClr val="8A4A14"/>
                </a:solidFill>
                <a:latin typeface="Calibri"/>
              </a:rPr>
              <a:t>TFMAcquireThread</a:t>
            </a:r>
          </a:p>
          <a:p>
            <a:pPr algn="ctr">
              <a:spcBef>
                <a:spcPts val="200"/>
              </a:spcBef>
            </a:pPr>
            <a:r>
              <a:rPr sz="950">
                <a:solidFill>
                  <a:srgbClr val="8A4A14"/>
                </a:solidFill>
                <a:latin typeface="Calibri"/>
              </a:rPr>
              <a:t>FM Stage A, own cursor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09560" y="2697480"/>
            <a:ext cx="3520440" cy="777240"/>
          </a:xfrm>
          <a:prstGeom prst="roundRect">
            <a:avLst>
              <a:gd name="adj" fmla="val 6000"/>
            </a:avLst>
          </a:prstGeom>
          <a:solidFill>
            <a:srgbClr val="DAF1F1"/>
          </a:solidFill>
          <a:ln w="15875">
            <a:solidFill>
              <a:srgbClr val="1F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150" b="1">
                <a:solidFill>
                  <a:srgbClr val="115454"/>
                </a:solidFill>
                <a:latin typeface="Calibri"/>
              </a:rPr>
              <a:t>TAMDSPThread</a:t>
            </a:r>
          </a:p>
          <a:p>
            <a:pPr algn="ctr">
              <a:spcBef>
                <a:spcPts val="200"/>
              </a:spcBef>
            </a:pPr>
            <a:r>
              <a:rPr sz="950">
                <a:solidFill>
                  <a:srgbClr val="115454"/>
                </a:solidFill>
                <a:latin typeface="Calibri"/>
              </a:rPr>
              <a:t>AM chain, own cursor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229600.0" y="2423160"/>
            <a:ext cx="0.0" cy="137160"/>
          </a:xfrm>
          <a:prstGeom prst="line">
            <a:avLst/>
          </a:prstGeom>
          <a:ln w="22225">
            <a:solidFill>
              <a:srgbClr val="7A5C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2263140.0" y="2560320"/>
            <a:ext cx="5966460.0" cy="0"/>
          </a:xfrm>
          <a:prstGeom prst="line">
            <a:avLst/>
          </a:prstGeom>
          <a:ln w="22225">
            <a:solidFill>
              <a:srgbClr val="7A5C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263140.0" y="2560320"/>
            <a:ext cx="0.0" cy="137160"/>
          </a:xfrm>
          <a:prstGeom prst="line">
            <a:avLst/>
          </a:prstGeom>
          <a:ln w="22225">
            <a:solidFill>
              <a:srgbClr val="7A5CC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229600.0" y="2423160"/>
            <a:ext cx="0.0" cy="137160"/>
          </a:xfrm>
          <a:prstGeom prst="line">
            <a:avLst/>
          </a:prstGeom>
          <a:ln w="22225">
            <a:solidFill>
              <a:srgbClr val="D9732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5966460.0" y="2560320"/>
            <a:ext cx="2263140.0" cy="0"/>
          </a:xfrm>
          <a:prstGeom prst="line">
            <a:avLst/>
          </a:prstGeom>
          <a:ln w="22225">
            <a:solidFill>
              <a:srgbClr val="D9732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966460.0" y="2560320"/>
            <a:ext cx="0.0" cy="137160"/>
          </a:xfrm>
          <a:prstGeom prst="line">
            <a:avLst/>
          </a:prstGeom>
          <a:ln w="22225">
            <a:solidFill>
              <a:srgbClr val="D9732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229600.0" y="2423160"/>
            <a:ext cx="0.0" cy="137160"/>
          </a:xfrm>
          <a:prstGeom prst="line">
            <a:avLst/>
          </a:prstGeom>
          <a:ln w="22225">
            <a:solidFill>
              <a:srgbClr val="1F8A8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229600.0" y="2560320"/>
            <a:ext cx="1440180.0" cy="0"/>
          </a:xfrm>
          <a:prstGeom prst="line">
            <a:avLst/>
          </a:prstGeom>
          <a:ln w="22225">
            <a:solidFill>
              <a:srgbClr val="1F8A8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669780.0" y="2560320"/>
            <a:ext cx="0.0" cy="137160"/>
          </a:xfrm>
          <a:prstGeom prst="line">
            <a:avLst/>
          </a:prstGeom>
          <a:ln w="22225">
            <a:solidFill>
              <a:srgbClr val="1F8A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4206240" y="3794760"/>
            <a:ext cx="1371600" cy="777240"/>
          </a:xfrm>
          <a:prstGeom prst="roundRect">
            <a:avLst>
              <a:gd name="adj" fmla="val 6000"/>
            </a:avLst>
          </a:prstGeom>
          <a:solidFill>
            <a:srgbClr val="16223B"/>
          </a:solidFill>
          <a:ln w="15875">
            <a:solidFill>
              <a:srgbClr val="0E17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79392" y="3886200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D9732A"/>
                </a:solidFill>
                <a:latin typeface="Calibri"/>
              </a:rPr>
              <a:t>FQueue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79392" y="4160520"/>
            <a:ext cx="1234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0" i="0">
                <a:solidFill>
                  <a:srgbClr val="FFFFFF"/>
                </a:solidFill>
                <a:latin typeface="Calibri"/>
              </a:rPr>
              <a:t>cap=6</a:t>
            </a:r>
          </a:p>
          <a:p>
            <a:pPr algn="ctr">
              <a:lnSpc>
                <a:spcPct val="105000"/>
              </a:lnSpc>
            </a:pPr>
            <a:r>
              <a:rPr sz="800" b="0" i="0">
                <a:solidFill>
                  <a:srgbClr val="FFFFFF"/>
                </a:solidFill>
                <a:latin typeface="Calibri"/>
              </a:rPr>
              <a:t>drop-oldest</a:t>
            </a:r>
          </a:p>
        </p:txBody>
      </p:sp>
      <p:cxnSp>
        <p:nvCxnSpPr>
          <p:cNvPr id="30" name="Connector 29"/>
          <p:cNvCxnSpPr/>
          <p:nvPr/>
        </p:nvCxnSpPr>
        <p:spPr>
          <a:xfrm flipH="1">
            <a:off x="4892040" y="3474720"/>
            <a:ext cx="1051560" cy="320040"/>
          </a:xfrm>
          <a:prstGeom prst="line">
            <a:avLst/>
          </a:prstGeom>
          <a:ln w="22225">
            <a:solidFill>
              <a:srgbClr val="D9732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5760720" y="3794760"/>
            <a:ext cx="3520440" cy="777240"/>
          </a:xfrm>
          <a:prstGeom prst="roundRect">
            <a:avLst>
              <a:gd name="adj" fmla="val 6000"/>
            </a:avLst>
          </a:prstGeom>
          <a:solidFill>
            <a:srgbClr val="FBE6D4"/>
          </a:solidFill>
          <a:ln w="15875">
            <a:solidFill>
              <a:srgbClr val="D973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100" b="1">
                <a:solidFill>
                  <a:srgbClr val="8A4A14"/>
                </a:solidFill>
                <a:latin typeface="Calibri"/>
              </a:rPr>
              <a:t>TFMDemodThread</a:t>
            </a:r>
          </a:p>
          <a:p>
            <a:pPr algn="ctr">
              <a:spcBef>
                <a:spcPts val="200"/>
              </a:spcBef>
            </a:pPr>
            <a:r>
              <a:rPr sz="950">
                <a:solidFill>
                  <a:srgbClr val="8A4A14"/>
                </a:solidFill>
                <a:latin typeface="Calibri"/>
              </a:rPr>
              <a:t>FM Stage B — pops FQueue,
demod through QueueStereo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577840" y="4178808"/>
            <a:ext cx="182880" cy="0"/>
          </a:xfrm>
          <a:prstGeom prst="line">
            <a:avLst/>
          </a:prstGeom>
          <a:ln w="22225">
            <a:solidFill>
              <a:srgbClr val="D9732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183880" y="356616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0" i="1">
                <a:solidFill>
                  <a:srgbClr val="115454"/>
                </a:solidFill>
                <a:latin typeface="Calibri"/>
              </a:rPr>
              <a:t>AM chain runs to</a:t>
            </a:r>
          </a:p>
          <a:p>
            <a:pPr algn="ctr">
              <a:lnSpc>
                <a:spcPct val="100000"/>
              </a:lnSpc>
            </a:pPr>
            <a:r>
              <a:rPr sz="880" b="0" i="1">
                <a:solidFill>
                  <a:srgbClr val="115454"/>
                </a:solidFill>
                <a:latin typeface="Calibri"/>
              </a:rPr>
              <a:t>QueueStereo directly (no queue)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5760" y="4892040"/>
            <a:ext cx="11338560" cy="1417320"/>
          </a:xfrm>
          <a:prstGeom prst="roundRect">
            <a:avLst>
              <a:gd name="adj" fmla="val 6000"/>
            </a:avLst>
          </a:prstGeom>
          <a:solidFill>
            <a:srgbClr val="E9EDF3"/>
          </a:solidFill>
          <a:ln w="12700">
            <a:solidFill>
              <a:srgbClr val="C7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5029200"/>
            <a:ext cx="108813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080">
                <a:solidFill>
                  <a:srgbClr val="1B222E"/>
                </a:solidFill>
                <a:latin typeface="Calibri"/>
              </a:rPr>
              <a:t>•  FStreamRing's cursor model (owned by each caller, an opaque Int64) is unchanged from the original single-consumer fix —</a:t>
            </a:r>
          </a:p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080">
                <a:solidFill>
                  <a:srgbClr val="1B222E"/>
                </a:solidFill>
                <a:latin typeface="Calibri"/>
              </a:rPr>
              <a:t>•  now serving three independent readers instead of two. A consumer that falls behind beyond ring capacity is skipped</a:t>
            </a:r>
          </a:p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080">
                <a:solidFill>
                  <a:srgbClr val="1B222E"/>
                </a:solidFill>
                <a:latin typeface="Calibri"/>
              </a:rPr>
              <a:t>•  forward to the newest window rather than served stale data.</a:t>
            </a:r>
          </a:p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080">
                <a:solidFill>
                  <a:srgbClr val="1B222E"/>
                </a:solidFill>
                <a:latin typeface="Calibri"/>
              </a:rPr>
              <a:t>•  FQueue is a SEPARATE, smaller handoff (Baseband epochs, not raw IQ) that exists only inside TFMBroadcastReceiver, guarded</a:t>
            </a:r>
          </a:p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080">
                <a:solidFill>
                  <a:srgbClr val="1B222E"/>
                </a:solidFill>
                <a:latin typeface="Calibri"/>
              </a:rPr>
              <a:t>•  by its own TCriticalSection — unrelated to FStreamLock which protects FStreamRing.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1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7A5C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8FB4DE"/>
                </a:solidFill>
                <a:latin typeface="Calibri"/>
              </a:rPr>
              <a:t>CONCURRENCY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FM (2 threads) vs. AM (1 thread) — full thread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329184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8FB4DE"/>
                </a:solidFill>
                <a:latin typeface="Calibr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Calibri"/>
              </a:rPr>
              <a:t>SDR_Radio  —  newVM Lazarus/FPC SDR receiver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" y="1170432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 i="0">
                <a:solidFill>
                  <a:srgbClr val="5B6677"/>
                </a:solidFill>
                <a:latin typeface="Calibri"/>
              </a:rPr>
              <a:t>VENDOR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1097280"/>
            <a:ext cx="2468880" cy="731520"/>
          </a:xfrm>
          <a:prstGeom prst="roundRect">
            <a:avLst>
              <a:gd name="adj" fmla="val 6000"/>
            </a:avLst>
          </a:prstGeom>
          <a:solidFill>
            <a:srgbClr val="F1F2F4"/>
          </a:solidFill>
          <a:ln w="19050">
            <a:solidFill>
              <a:srgbClr val="5B66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l"/>
            <a:r>
              <a:rPr sz="1100" b="1">
                <a:solidFill>
                  <a:srgbClr val="5B6677"/>
                </a:solidFill>
                <a:latin typeface="Calibri"/>
              </a:rPr>
              <a:t>Vendor USB/IPC thread</a:t>
            </a:r>
          </a:p>
          <a:p>
            <a:pPr>
              <a:spcBef>
                <a:spcPts val="200"/>
              </a:spcBef>
            </a:pPr>
            <a:r>
              <a:rPr sz="850">
                <a:solidFill>
                  <a:srgbClr val="1B222E"/>
                </a:solidFill>
                <a:latin typeface="Calibri"/>
              </a:rPr>
              <a:t>libusb / rtlsdr_read_async /
SDRplay API callback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606040" y="1828800"/>
            <a:ext cx="0" cy="228600"/>
          </a:xfrm>
          <a:prstGeom prst="line">
            <a:avLst/>
          </a:prstGeom>
          <a:ln w="22225">
            <a:solidFill>
              <a:srgbClr val="5B667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720" y="221284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 i="0">
                <a:solidFill>
                  <a:srgbClr val="5B6677"/>
                </a:solidFill>
                <a:latin typeface="Calibri"/>
              </a:rPr>
              <a:t>ACQUIRE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2148840"/>
            <a:ext cx="2468880" cy="685800"/>
          </a:xfrm>
          <a:prstGeom prst="roundRect">
            <a:avLst>
              <a:gd name="adj" fmla="val 6000"/>
            </a:avLst>
          </a:prstGeom>
          <a:solidFill>
            <a:srgbClr val="DCE9F7"/>
          </a:solidFill>
          <a:ln w="19050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l"/>
            <a:r>
              <a:rPr sz="1100" b="1">
                <a:solidFill>
                  <a:srgbClr val="2B6CB0"/>
                </a:solidFill>
                <a:latin typeface="Calibri"/>
              </a:rPr>
              <a:t>TSDRPollThread</a:t>
            </a:r>
          </a:p>
          <a:p>
            <a:pPr>
              <a:spcBef>
                <a:spcPts val="200"/>
              </a:spcBef>
            </a:pPr>
            <a:r>
              <a:rPr sz="850">
                <a:solidFill>
                  <a:srgbClr val="1B222E"/>
                </a:solidFill>
                <a:latin typeface="Calibri"/>
              </a:rPr>
              <a:t>sole caller of
FDevice.TryReadEpoch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06040" y="2834640"/>
            <a:ext cx="0" cy="228600"/>
          </a:xfrm>
          <a:prstGeom prst="line">
            <a:avLst/>
          </a:prstGeom>
          <a:ln w="22225">
            <a:solidFill>
              <a:srgbClr val="2B6CB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371600" y="3063240"/>
            <a:ext cx="2468880" cy="411480"/>
          </a:xfrm>
          <a:prstGeom prst="roundRect">
            <a:avLst>
              <a:gd name="adj" fmla="val 6000"/>
            </a:avLst>
          </a:prstGeom>
          <a:solidFill>
            <a:srgbClr val="16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3145536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D9732A"/>
                </a:solidFill>
                <a:latin typeface="Calibri"/>
              </a:rPr>
              <a:t>FStreamRing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606040" y="3474720"/>
            <a:ext cx="0" cy="182880"/>
          </a:xfrm>
          <a:prstGeom prst="line">
            <a:avLst/>
          </a:prstGeom>
          <a:ln w="22225">
            <a:solidFill>
              <a:srgbClr val="7A5C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1737360" y="3657600"/>
            <a:ext cx="868680" cy="0"/>
          </a:xfrm>
          <a:prstGeom prst="line">
            <a:avLst/>
          </a:prstGeom>
          <a:ln w="22225">
            <a:solidFill>
              <a:srgbClr val="7A5C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737360" y="3657600"/>
            <a:ext cx="0" cy="228600"/>
          </a:xfrm>
          <a:prstGeom prst="line">
            <a:avLst/>
          </a:prstGeom>
          <a:ln w="22225">
            <a:solidFill>
              <a:srgbClr val="7A5CC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606040" y="3474720"/>
            <a:ext cx="0" cy="320040"/>
          </a:xfrm>
          <a:prstGeom prst="line">
            <a:avLst/>
          </a:prstGeom>
          <a:ln w="22225">
            <a:solidFill>
              <a:srgbClr val="D9732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606040" y="3794760"/>
            <a:ext cx="2743200" cy="0"/>
          </a:xfrm>
          <a:prstGeom prst="line">
            <a:avLst/>
          </a:prstGeom>
          <a:ln w="22225">
            <a:solidFill>
              <a:srgbClr val="D9732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349240" y="3794760"/>
            <a:ext cx="0" cy="91440"/>
          </a:xfrm>
          <a:prstGeom prst="line">
            <a:avLst/>
          </a:prstGeom>
          <a:ln w="22225">
            <a:solidFill>
              <a:srgbClr val="D9732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606040" y="3474720"/>
            <a:ext cx="0" cy="182880"/>
          </a:xfrm>
          <a:prstGeom prst="line">
            <a:avLst/>
          </a:prstGeom>
          <a:ln w="22225">
            <a:solidFill>
              <a:srgbClr val="1F8A8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606040" y="3657600"/>
            <a:ext cx="5897880" cy="0"/>
          </a:xfrm>
          <a:prstGeom prst="line">
            <a:avLst/>
          </a:prstGeom>
          <a:ln w="22225">
            <a:solidFill>
              <a:srgbClr val="1F8A8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503920" y="3657600"/>
            <a:ext cx="0" cy="228600"/>
          </a:xfrm>
          <a:prstGeom prst="line">
            <a:avLst/>
          </a:prstGeom>
          <a:ln w="22225">
            <a:solidFill>
              <a:srgbClr val="1F8A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5720" y="3977639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 i="0">
                <a:solidFill>
                  <a:srgbClr val="5B6677"/>
                </a:solidFill>
                <a:latin typeface="Calibri"/>
              </a:rPr>
              <a:t>CONSUME</a:t>
            </a:r>
          </a:p>
          <a:p>
            <a:pPr algn="l">
              <a:lnSpc>
                <a:spcPct val="100000"/>
              </a:lnSpc>
            </a:pPr>
            <a:r>
              <a:rPr sz="880" b="1" i="0">
                <a:solidFill>
                  <a:srgbClr val="5B6677"/>
                </a:solidFill>
                <a:latin typeface="Calibri"/>
              </a:rPr>
              <a:t>(cursors)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51560" y="3886200"/>
            <a:ext cx="1371600" cy="777240"/>
          </a:xfrm>
          <a:prstGeom prst="roundRect">
            <a:avLst>
              <a:gd name="adj" fmla="val 6000"/>
            </a:avLst>
          </a:prstGeom>
          <a:solidFill>
            <a:srgbClr val="E9E2F8"/>
          </a:solidFill>
          <a:ln w="19050">
            <a:solidFill>
              <a:srgbClr val="7A5C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l"/>
            <a:r>
              <a:rPr sz="1000" b="1">
                <a:solidFill>
                  <a:srgbClr val="7A5CC6"/>
                </a:solidFill>
                <a:latin typeface="Calibri"/>
              </a:rPr>
              <a:t>GUI TTimer</a:t>
            </a:r>
          </a:p>
          <a:p>
            <a:pPr>
              <a:spcBef>
                <a:spcPts val="200"/>
              </a:spcBef>
            </a:pPr>
            <a:r>
              <a:rPr sz="800">
                <a:solidFill>
                  <a:srgbClr val="1B222E"/>
                </a:solidFill>
                <a:latin typeface="Calibri"/>
              </a:rPr>
              <a:t>TSDRSpectrumAnalyser
GPU FFT + repaint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97680" y="3886200"/>
            <a:ext cx="2103120" cy="777240"/>
          </a:xfrm>
          <a:prstGeom prst="roundRect">
            <a:avLst>
              <a:gd name="adj" fmla="val 6000"/>
            </a:avLst>
          </a:prstGeom>
          <a:solidFill>
            <a:srgbClr val="FBE6D4"/>
          </a:solidFill>
          <a:ln w="19050">
            <a:solidFill>
              <a:srgbClr val="D973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l"/>
            <a:r>
              <a:rPr sz="1000" b="1">
                <a:solidFill>
                  <a:srgbClr val="D9732A"/>
                </a:solidFill>
                <a:latin typeface="Calibri"/>
              </a:rPr>
              <a:t>TFMAcquireThread</a:t>
            </a:r>
          </a:p>
          <a:p>
            <a:pPr>
              <a:spcBef>
                <a:spcPts val="200"/>
              </a:spcBef>
            </a:pPr>
            <a:r>
              <a:rPr sz="800">
                <a:solidFill>
                  <a:srgbClr val="1B222E"/>
                </a:solidFill>
                <a:latin typeface="Calibri"/>
              </a:rPr>
              <a:t>FM Stage A: mixer + wideband
resample → push FQueue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89520" y="3886200"/>
            <a:ext cx="1828800" cy="777240"/>
          </a:xfrm>
          <a:prstGeom prst="roundRect">
            <a:avLst>
              <a:gd name="adj" fmla="val 6000"/>
            </a:avLst>
          </a:prstGeom>
          <a:solidFill>
            <a:srgbClr val="DAF1F1"/>
          </a:solidFill>
          <a:ln w="19050">
            <a:solidFill>
              <a:srgbClr val="1F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l"/>
            <a:r>
              <a:rPr sz="1000" b="1">
                <a:solidFill>
                  <a:srgbClr val="1F8A8A"/>
                </a:solidFill>
                <a:latin typeface="Calibri"/>
              </a:rPr>
              <a:t>TAMDSPThread</a:t>
            </a:r>
          </a:p>
          <a:p>
            <a:pPr>
              <a:spcBef>
                <a:spcPts val="200"/>
              </a:spcBef>
            </a:pPr>
            <a:r>
              <a:rPr sz="800">
                <a:solidFill>
                  <a:srgbClr val="1B222E"/>
                </a:solidFill>
                <a:latin typeface="Calibri"/>
              </a:rPr>
              <a:t>AM whole chain →
QueueStereo directly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400800" y="4270248"/>
            <a:ext cx="228600" cy="0"/>
          </a:xfrm>
          <a:prstGeom prst="line">
            <a:avLst/>
          </a:prstGeom>
          <a:ln w="22225">
            <a:solidFill>
              <a:srgbClr val="D9732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6629400" y="4023360"/>
            <a:ext cx="777240" cy="502920"/>
          </a:xfrm>
          <a:prstGeom prst="roundRect">
            <a:avLst>
              <a:gd name="adj" fmla="val 6000"/>
            </a:avLst>
          </a:prstGeom>
          <a:solidFill>
            <a:srgbClr val="16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29400" y="4087368"/>
            <a:ext cx="777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1" i="0">
                <a:solidFill>
                  <a:srgbClr val="D9732A"/>
                </a:solidFill>
                <a:latin typeface="Calibri"/>
              </a:rPr>
              <a:t>FQueue</a:t>
            </a:r>
          </a:p>
          <a:p>
            <a:pPr algn="ctr">
              <a:lnSpc>
                <a:spcPct val="100000"/>
              </a:lnSpc>
            </a:pPr>
            <a:r>
              <a:rPr sz="780" b="1" i="0">
                <a:solidFill>
                  <a:srgbClr val="D9732A"/>
                </a:solidFill>
                <a:latin typeface="Calibri"/>
              </a:rPr>
              <a:t>cap=6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406640" y="4270248"/>
            <a:ext cx="228600" cy="0"/>
          </a:xfrm>
          <a:prstGeom prst="line">
            <a:avLst/>
          </a:prstGeom>
          <a:ln w="22225">
            <a:solidFill>
              <a:srgbClr val="D9732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7635240" y="3886200"/>
            <a:ext cx="2011680" cy="777240"/>
          </a:xfrm>
          <a:prstGeom prst="roundRect">
            <a:avLst>
              <a:gd name="adj" fmla="val 6000"/>
            </a:avLst>
          </a:prstGeom>
          <a:solidFill>
            <a:srgbClr val="FBE6D4"/>
          </a:solidFill>
          <a:ln w="19050">
            <a:solidFill>
              <a:srgbClr val="D973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l"/>
            <a:r>
              <a:rPr sz="1000" b="1">
                <a:solidFill>
                  <a:srgbClr val="D9732A"/>
                </a:solidFill>
                <a:latin typeface="Calibri"/>
              </a:rPr>
              <a:t>TFMDemodThread</a:t>
            </a:r>
          </a:p>
          <a:p>
            <a:pPr>
              <a:spcBef>
                <a:spcPts val="200"/>
              </a:spcBef>
            </a:pPr>
            <a:r>
              <a:rPr sz="800">
                <a:solidFill>
                  <a:srgbClr val="1B222E"/>
                </a:solidFill>
                <a:latin typeface="Calibri"/>
              </a:rPr>
              <a:t>FM Stage B: demod + stereo
+ resample → QueueStereo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641080" y="4663440"/>
            <a:ext cx="0" cy="228600"/>
          </a:xfrm>
          <a:prstGeom prst="line">
            <a:avLst/>
          </a:prstGeom>
          <a:ln w="22225">
            <a:solidFill>
              <a:srgbClr val="2E9E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503920" y="4663440"/>
            <a:ext cx="0" cy="228600"/>
          </a:xfrm>
          <a:prstGeom prst="line">
            <a:avLst/>
          </a:prstGeom>
          <a:ln w="22225">
            <a:solidFill>
              <a:srgbClr val="2E9E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6949440" y="4892040"/>
            <a:ext cx="2834640" cy="594360"/>
          </a:xfrm>
          <a:prstGeom prst="roundRect">
            <a:avLst>
              <a:gd name="adj" fmla="val 6000"/>
            </a:avLst>
          </a:prstGeom>
          <a:solidFill>
            <a:srgbClr val="DCF3E7"/>
          </a:solidFill>
          <a:ln w="19050">
            <a:solidFill>
              <a:srgbClr val="2E9E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l"/>
            <a:r>
              <a:rPr sz="1050" b="1">
                <a:solidFill>
                  <a:srgbClr val="2E9E64"/>
                </a:solidFill>
                <a:latin typeface="Calibri"/>
              </a:rPr>
              <a:t>ALSA / waveOut (sync)</a:t>
            </a:r>
          </a:p>
          <a:p>
            <a:pPr>
              <a:spcBef>
                <a:spcPts val="200"/>
              </a:spcBef>
            </a:pPr>
            <a:r>
              <a:rPr sz="800">
                <a:solidFill>
                  <a:srgbClr val="1B222E"/>
                </a:solidFill>
                <a:latin typeface="Calibri"/>
              </a:rPr>
              <a:t>each receiver owns its own TWaveOutPlayer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784080" y="1097280"/>
            <a:ext cx="1965960" cy="4389120"/>
          </a:xfrm>
          <a:prstGeom prst="roundRect">
            <a:avLst>
              <a:gd name="adj" fmla="val 6000"/>
            </a:avLst>
          </a:prstGeom>
          <a:solidFill>
            <a:srgbClr val="16223B"/>
          </a:solidFill>
          <a:ln w="19050">
            <a:solidFill>
              <a:srgbClr val="0E17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921240" y="118872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D9732A"/>
                </a:solidFill>
                <a:latin typeface="Calibri"/>
              </a:rPr>
              <a:t>GUI THREAD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21240" y="1508760"/>
            <a:ext cx="173736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900">
                <a:solidFill>
                  <a:srgbClr val="FFFFFF"/>
                </a:solidFill>
                <a:latin typeface="Calibri"/>
              </a:rPr>
              <a:t>•  TForm1 message loop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900">
                <a:solidFill>
                  <a:srgbClr val="FFFFFF"/>
                </a:solidFill>
                <a:latin typeface="Calibri"/>
              </a:rPr>
              <a:t>•  ModeCombo switches Active FM ↔ AM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900">
                <a:solidFill>
                  <a:srgbClr val="FFFFFF"/>
                </a:solidFill>
                <a:latin typeface="Calibri"/>
              </a:rPr>
              <a:t>•  Freq/Volume/Bandwidth edits write fields directly, no lock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921240" y="3429000"/>
            <a:ext cx="1691640" cy="1920240"/>
          </a:xfrm>
          <a:prstGeom prst="roundRect">
            <a:avLst>
              <a:gd name="adj" fmla="val 6000"/>
            </a:avLst>
          </a:prstGeom>
          <a:solidFill>
            <a:srgbClr val="DCE9F7"/>
          </a:solidFill>
          <a:ln w="19050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l"/>
            <a:r>
              <a:rPr sz="1000" b="1">
                <a:solidFill>
                  <a:srgbClr val="2B6CB0"/>
                </a:solidFill>
                <a:latin typeface="Calibri"/>
              </a:rPr>
              <a:t>TSDRControlThread</a:t>
            </a:r>
          </a:p>
          <a:p>
            <a:pPr>
              <a:spcBef>
                <a:spcPts val="200"/>
              </a:spcBef>
            </a:pPr>
            <a:r>
              <a:rPr sz="830">
                <a:solidFill>
                  <a:srgbClr val="1B222E"/>
                </a:solidFill>
                <a:latin typeface="Calibri"/>
              </a:rPr>
              <a:t>coalesces
RequestFrequencyHz;
blocking vendor call
off GUI thread;
TThread.Queue back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642823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5B6677"/>
                </a:solidFill>
                <a:latin typeface="Calibri"/>
              </a:rPr>
              <a:t>Only one of the two lower paths is ever running at once (ModeCombo is mutually exclusive) — both drawn to show the full structure.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1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8FB4DE"/>
                </a:solidFill>
                <a:latin typeface="Calibri"/>
              </a:rPr>
              <a:t>CONCURRENCY DETAIL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Async retune — why frequency changes never freeze the UI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329184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8FB4DE"/>
                </a:solidFill>
                <a:latin typeface="Calibr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Calibri"/>
              </a:rPr>
              <a:t>SDR_Radio  —  newVM Lazarus/FPC SDR receiver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71600"/>
            <a:ext cx="2121408" cy="1737360"/>
          </a:xfrm>
          <a:prstGeom prst="roundRect">
            <a:avLst>
              <a:gd name="adj" fmla="val 6000"/>
            </a:avLst>
          </a:prstGeom>
          <a:solidFill>
            <a:srgbClr val="16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12700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  <a:p>
            <a:pPr algn="ctr">
              <a:spcBef>
                <a:spcPts val="600"/>
              </a:spcBef>
            </a:pPr>
            <a:r>
              <a:rPr sz="1100" b="1">
                <a:solidFill>
                  <a:srgbClr val="FFFFFF"/>
                </a:solidFill>
                <a:latin typeface="Calibri"/>
              </a:rPr>
              <a:t>User drags FreqEdit /
ListenFreqEdit</a:t>
            </a:r>
          </a:p>
          <a:p>
            <a:pPr algn="ctr">
              <a:spcBef>
                <a:spcPts val="1000"/>
              </a:spcBef>
            </a:pPr>
            <a:r>
              <a:rPr sz="950" i="1">
                <a:solidFill>
                  <a:srgbClr val="FFFFFF"/>
                </a:solidFill>
                <a:latin typeface="Calibri"/>
              </a:rPr>
              <a:t>GUI thread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24328" y="2240280.0"/>
            <a:ext cx="109728" cy="0.0"/>
          </a:xfrm>
          <a:prstGeom prst="line">
            <a:avLst/>
          </a:prstGeom>
          <a:ln w="25400">
            <a:solidFill>
              <a:srgbClr val="5B667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734056" y="1371600"/>
            <a:ext cx="2121408" cy="1737360"/>
          </a:xfrm>
          <a:prstGeom prst="roundRect">
            <a:avLst>
              <a:gd name="adj" fmla="val 6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127000"/>
          <a:lstStyle/>
          <a:p>
            <a:pPr algn="ctr"/>
            <a:r>
              <a:rPr sz="1800" b="1">
                <a:solidFill>
                  <a:srgbClr val="1B4778"/>
                </a:solidFill>
                <a:latin typeface="Calibri"/>
              </a:rPr>
              <a:t>2</a:t>
            </a:r>
          </a:p>
          <a:p>
            <a:pPr algn="ctr">
              <a:spcBef>
                <a:spcPts val="600"/>
              </a:spcBef>
            </a:pPr>
            <a:r>
              <a:rPr sz="1100" b="1">
                <a:solidFill>
                  <a:srgbClr val="1B4778"/>
                </a:solidFill>
                <a:latin typeface="Calibri"/>
              </a:rPr>
              <a:t>RequestFrequencyHz(Hz)
records latest value under FLock,
returns immediately</a:t>
            </a:r>
          </a:p>
          <a:p>
            <a:pPr algn="ctr">
              <a:spcBef>
                <a:spcPts val="1000"/>
              </a:spcBef>
            </a:pPr>
            <a:r>
              <a:rPr sz="950" i="1">
                <a:solidFill>
                  <a:srgbClr val="1B4778"/>
                </a:solidFill>
                <a:latin typeface="Calibri"/>
              </a:rPr>
              <a:t>GUI thread →
TSDRControlThread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855464" y="2240280.0"/>
            <a:ext cx="109728" cy="0.0"/>
          </a:xfrm>
          <a:prstGeom prst="line">
            <a:avLst/>
          </a:prstGeom>
          <a:ln w="25400">
            <a:solidFill>
              <a:srgbClr val="5B667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965192" y="1371600"/>
            <a:ext cx="2121408" cy="1737360"/>
          </a:xfrm>
          <a:prstGeom prst="roundRect">
            <a:avLst>
              <a:gd name="adj" fmla="val 6000"/>
            </a:avLst>
          </a:prstGeom>
          <a:solidFill>
            <a:srgbClr val="FBE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127000"/>
          <a:lstStyle/>
          <a:p>
            <a:pPr algn="ctr"/>
            <a:r>
              <a:rPr sz="1800" b="1">
                <a:solidFill>
                  <a:srgbClr val="8A4A14"/>
                </a:solidFill>
                <a:latin typeface="Calibri"/>
              </a:rPr>
              <a:t>3</a:t>
            </a:r>
          </a:p>
          <a:p>
            <a:pPr algn="ctr">
              <a:spcBef>
                <a:spcPts val="600"/>
              </a:spcBef>
            </a:pPr>
            <a:r>
              <a:rPr sz="1100" b="1">
                <a:solidFill>
                  <a:srgbClr val="8A4A14"/>
                </a:solidFill>
                <a:latin typeface="Calibri"/>
              </a:rPr>
              <a:t>Execute loop picks up the
LATEST pending Hz (coalescing,
not queuing) and calls
FDevice.SetFrequencyHz(Hz)</a:t>
            </a:r>
          </a:p>
          <a:p>
            <a:pPr algn="ctr">
              <a:spcBef>
                <a:spcPts val="1000"/>
              </a:spcBef>
            </a:pPr>
            <a:r>
              <a:rPr sz="950" i="1">
                <a:solidFill>
                  <a:srgbClr val="8A4A14"/>
                </a:solidFill>
                <a:latin typeface="Calibri"/>
              </a:rPr>
              <a:t>TSDRControlThread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086600" y="2240280.0"/>
            <a:ext cx="109728" cy="0.0"/>
          </a:xfrm>
          <a:prstGeom prst="line">
            <a:avLst/>
          </a:prstGeom>
          <a:ln w="25400">
            <a:solidFill>
              <a:srgbClr val="5B667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196328" y="1371600"/>
            <a:ext cx="2121408" cy="1737360"/>
          </a:xfrm>
          <a:prstGeom prst="roundRect">
            <a:avLst>
              <a:gd name="adj" fmla="val 6000"/>
            </a:avLst>
          </a:prstGeom>
          <a:solidFill>
            <a:srgbClr val="DC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127000"/>
          <a:lstStyle/>
          <a:p>
            <a:pPr algn="ctr"/>
            <a:r>
              <a:rPr sz="1800" b="1">
                <a:solidFill>
                  <a:srgbClr val="1F6E47"/>
                </a:solidFill>
                <a:latin typeface="Calibri"/>
              </a:rPr>
              <a:t>4</a:t>
            </a:r>
          </a:p>
          <a:p>
            <a:pPr algn="ctr">
              <a:spcBef>
                <a:spcPts val="600"/>
              </a:spcBef>
            </a:pPr>
            <a:r>
              <a:rPr sz="1100" b="1">
                <a:solidFill>
                  <a:srgbClr val="1F6E47"/>
                </a:solidFill>
                <a:latin typeface="Calibri"/>
              </a:rPr>
              <a:t>TThread.Queue(nil, @...Applied)
posts completion — never
Synchronize (would block
Execute on GUI responsiveness)</a:t>
            </a:r>
          </a:p>
          <a:p>
            <a:pPr algn="ctr">
              <a:spcBef>
                <a:spcPts val="1000"/>
              </a:spcBef>
            </a:pPr>
            <a:r>
              <a:rPr sz="950" i="1">
                <a:solidFill>
                  <a:srgbClr val="1F6E47"/>
                </a:solidFill>
                <a:latin typeface="Calibri"/>
              </a:rPr>
              <a:t>TSDRControlThread
→ GUI thread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317736" y="2240280.0"/>
            <a:ext cx="109728" cy="0.0"/>
          </a:xfrm>
          <a:prstGeom prst="line">
            <a:avLst/>
          </a:prstGeom>
          <a:ln w="25400">
            <a:solidFill>
              <a:srgbClr val="5B667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427464" y="1371600"/>
            <a:ext cx="2121408" cy="1737360"/>
          </a:xfrm>
          <a:prstGeom prst="roundRect">
            <a:avLst>
              <a:gd name="adj" fmla="val 6000"/>
            </a:avLst>
          </a:prstGeom>
          <a:solidFill>
            <a:srgbClr val="16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12700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  <a:p>
            <a:pPr algn="ctr">
              <a:spcBef>
                <a:spcPts val="600"/>
              </a:spcBef>
            </a:pPr>
            <a:r>
              <a:rPr sz="1100" b="1">
                <a:solidFill>
                  <a:srgbClr val="FFFFFF"/>
                </a:solidFill>
                <a:latin typeface="Calibri"/>
              </a:rPr>
              <a:t>OnFrequencyChanged fires;
LastFrequencyChangeOk /
LastError read by the form</a:t>
            </a:r>
          </a:p>
          <a:p>
            <a:pPr algn="ctr">
              <a:spcBef>
                <a:spcPts val="1000"/>
              </a:spcBef>
            </a:pPr>
            <a:r>
              <a:rPr sz="950" i="1">
                <a:solidFill>
                  <a:srgbClr val="FFFFFF"/>
                </a:solidFill>
                <a:latin typeface="Calibri"/>
              </a:rPr>
              <a:t>GUI thread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429000"/>
            <a:ext cx="11201400" cy="2880360"/>
          </a:xfrm>
          <a:prstGeom prst="roundRect">
            <a:avLst>
              <a:gd name="adj" fmla="val 6000"/>
            </a:avLst>
          </a:prstGeom>
          <a:solidFill>
            <a:srgbClr val="F9E0DF"/>
          </a:solidFill>
          <a:ln w="12700">
            <a:solidFill>
              <a:srgbClr val="C44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5844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C4403E"/>
                </a:solidFill>
                <a:latin typeface="Calibri"/>
              </a:rPr>
              <a:t>The problem this solves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950208"/>
            <a:ext cx="10607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80">
                <a:solidFill>
                  <a:srgbClr val="1B222E"/>
                </a:solidFill>
                <a:latin typeface="Calibri"/>
              </a:rPr>
              <a:t>•  Each backend's SetFrequencyHz makes a synchronous, potentially slow call into the vendor driver/API while streaming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80">
                <a:solidFill>
                  <a:srgbClr val="1B222E"/>
                </a:solidFill>
                <a:latin typeface="Calibri"/>
              </a:rPr>
              <a:t>•  (e.g. SDRplay's sdrplay_api_Update is a real IPC round-trip to sdrplay_apiService.exe, not a fire-and-forget register write).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80">
                <a:solidFill>
                  <a:srgbClr val="1B222E"/>
                </a:solidFill>
                <a:latin typeface="Calibri"/>
              </a:rPr>
              <a:t>•  Calling it directly from the GUI thread — as the original FreqEdit/keypad handlers did — froze the whole message loop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80">
                <a:solidFill>
                  <a:srgbClr val="1B222E"/>
                </a:solidFill>
                <a:latin typeface="Calibri"/>
              </a:rPr>
              <a:t>•  for however long that call took, under real concurrent load (TSDRPollThread + a running receiver chain + the spectrum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80">
                <a:solidFill>
                  <a:srgbClr val="1B222E"/>
                </a:solidFill>
                <a:latin typeface="Calibri"/>
              </a:rPr>
              <a:t>•  analyser's GPU work all competing for the same USB/IPC bandwidth) — long enough that Windows would mark the window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80">
                <a:solidFill>
                  <a:srgbClr val="1B222E"/>
                </a:solidFill>
                <a:latin typeface="Calibri"/>
              </a:rPr>
              <a:t>•  ‘Not Responding’ and a user would reasonably kill it via Task Manager.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80">
                <a:solidFill>
                  <a:srgbClr val="1B222E"/>
                </a:solidFill>
                <a:latin typeface="Calibri"/>
              </a:rPr>
              <a:t>•  Shared by both receivers today: whichever of FReceiver/FAMReceiver is Active reads the same FRFSource.TunedFrequencyHz-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80">
                <a:solidFill>
                  <a:srgbClr val="1B222E"/>
                </a:solidFill>
                <a:latin typeface="Calibri"/>
              </a:rPr>
              <a:t>•  style mixer update, unaffected by this control-thread mechanism (only the RF front end's own retune goes through it).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1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2E9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8FB4DE"/>
                </a:solidFill>
                <a:latin typeface="Calibri"/>
              </a:rPr>
              <a:t>AUDIO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TWaveOutPlayer — per-receiver instances + ALSA drift fix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329184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8FB4DE"/>
                </a:solidFill>
                <a:latin typeface="Calibr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677"/>
                </a:solidFill>
                <a:latin typeface="Calibri"/>
              </a:rPr>
              <a:t>SDR_Radio  —  newVM Lazarus/FPC SDR receiver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280160"/>
            <a:ext cx="5212080" cy="1234440"/>
          </a:xfrm>
          <a:prstGeom prst="roundRect">
            <a:avLst>
              <a:gd name="adj" fmla="val 6000"/>
            </a:avLst>
          </a:prstGeom>
          <a:solidFill>
            <a:srgbClr val="DCE9F7"/>
          </a:solidFill>
          <a:ln w="15875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00" b="1">
                <a:solidFill>
                  <a:srgbClr val="1B4778"/>
                </a:solidFill>
                <a:latin typeface="Calibri"/>
              </a:rPr>
              <a:t>Windows — waveOut</a:t>
            </a:r>
          </a:p>
          <a:p>
            <a:pPr algn="ctr">
              <a:spcBef>
                <a:spcPts val="200"/>
              </a:spcBef>
            </a:pPr>
            <a:r>
              <a:rPr sz="1000">
                <a:solidFill>
                  <a:srgbClr val="1B4778"/>
                </a:solidFill>
                <a:latin typeface="Calibri"/>
              </a:rPr>
              <a:t>Ring of 16 WAVEHDR buffers (~320ms headroom).
QueueStereo submits via waveOutWrite; a full ring
DROPS the epoch rather than blocking.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1280160"/>
            <a:ext cx="5715000" cy="1234440"/>
          </a:xfrm>
          <a:prstGeom prst="roundRect">
            <a:avLst>
              <a:gd name="adj" fmla="val 6000"/>
            </a:avLst>
          </a:prstGeom>
          <a:solidFill>
            <a:srgbClr val="DCF3E7"/>
          </a:solidFill>
          <a:ln w="15875">
            <a:solidFill>
              <a:srgbClr val="2E9E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00" b="1">
                <a:solidFill>
                  <a:srgbClr val="1F6E47"/>
                </a:solidFill>
                <a:latin typeface="Calibri"/>
              </a:rPr>
              <a:t>Linux — ALSA (libasound.so.2, dlopen'd)</a:t>
            </a:r>
          </a:p>
          <a:p>
            <a:pPr algn="ctr">
              <a:spcBef>
                <a:spcPts val="200"/>
              </a:spcBef>
            </a:pPr>
            <a:r>
              <a:rPr sz="1000">
                <a:solidFill>
                  <a:srgbClr val="1F6E47"/>
                </a:solidFill>
                <a:latin typeface="Calibri"/>
              </a:rPr>
              <a:t>snd_pcm_open(NONBLOCK) + snd_pcm_set_params
(~1s requested latency). EAGAIN → drop epoch,
EPIPE/underrun → snd_pcm_recover.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97480"/>
            <a:ext cx="3840480" cy="256032"/>
          </a:xfrm>
          <a:prstGeom prst="roundRect">
            <a:avLst>
              <a:gd name="adj" fmla="val 6000"/>
            </a:avLst>
          </a:prstGeom>
          <a:solidFill>
            <a:srgbClr val="0E1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EACH RECEIVER OWNS ITS OWN INSTANCE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697480"/>
            <a:ext cx="7178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1">
                <a:solidFill>
                  <a:srgbClr val="5B6677"/>
                </a:solidFill>
                <a:latin typeface="Calibri"/>
              </a:rPr>
              <a:t>TFMBroadcastReceiver.FPlayer and TAMBroadcastReceiver.FPlayer are separate objects — switching ModeCombo opens/closes independently.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200400"/>
            <a:ext cx="11201400" cy="3063240"/>
          </a:xfrm>
          <a:prstGeom prst="roundRect">
            <a:avLst>
              <a:gd name="adj" fmla="val 6000"/>
            </a:avLst>
          </a:prstGeom>
          <a:solidFill>
            <a:srgbClr val="16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77240" y="3364992"/>
            <a:ext cx="1828800" cy="256032"/>
          </a:xfrm>
          <a:prstGeom prst="roundRect">
            <a:avLst>
              <a:gd name="adj" fmla="val 6000"/>
            </a:avLst>
          </a:prstGeom>
          <a:solidFill>
            <a:srgbClr val="D97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FIXED 2026-08-22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3364992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Root cause of intermittent audio: unbounded ALSA ring-buffer drift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822191"/>
            <a:ext cx="10607040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130">
                <a:solidFill>
                  <a:srgbClr val="FFFFFF"/>
                </a:solidFill>
                <a:latin typeface="Calibri"/>
              </a:rPr>
              <a:t>•  Prior fixes (widen buffer, fix short-write handling) only pushed the symptom out: nothing paced QueueStereo calls to the sound card's actual playback clock, so any persistent mismatch (SDR clock vs. sound-card clock, OS scheduling jitter, GPU/spectrum contention) drained or filled the ring without bound.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130">
                <a:solidFill>
                  <a:srgbClr val="FFFFFF"/>
                </a:solidFill>
                <a:latin typeface="Calibri"/>
              </a:rPr>
              <a:t>•  Confirmed with a synthetic-tone test harness (no SDR hardware at all) that still accumulated underruns at a rock-steady 20ms epoch cadence — proving it wasn't a hardware-timing artifact.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130">
                <a:solidFill>
                  <a:srgbClr val="FFFFFF"/>
                </a:solidFill>
                <a:latin typeface="Calibri"/>
              </a:rPr>
              <a:t>•  Fix: the ALSA backend reads queued-frame count via snd_pcm_delay and applies a proportional correction each epoch (duplicate/drop a few frames, clamped to 128, gain 0.1, dead-banded), paired with widening requested latency to ~1s.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130">
                <a:solidFill>
                  <a:srgbClr val="FFFFFF"/>
                </a:solidFill>
                <a:latin typeface="Calibri"/>
              </a:rPr>
              <a:t>•  The subsequent FM two-thread split (earlier slides) addressed a SEPARATE, related symptom on ARM64: the single-thread chain running slower than real time, making this same drift-compensation fire on nearly every epoch — fixing the compute deficit, not the compensation mechanism itself.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